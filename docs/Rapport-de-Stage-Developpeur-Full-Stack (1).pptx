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5.png"/><Relationship Id="rId8" Type="http://schemas.openxmlformats.org/officeDocument/2006/relationships/image" Target="../media/image-4-6.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5.png"/><Relationship Id="rId8" Type="http://schemas.openxmlformats.org/officeDocument/2006/relationships/image" Target="../media/image-7-6.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slideLayout" Target="../slideLayouts/slideLayout2.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ev.digitalicons.fr/" TargetMode="Externa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63427"/>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Rapport de Stage · Développeur Full Stack</a:t>
            </a:r>
            <a:endParaRPr lang="en-US" sz="2750" dirty="0"/>
          </a:p>
        </p:txBody>
      </p:sp>
      <p:sp>
        <p:nvSpPr>
          <p:cNvPr id="4" name="Text 1"/>
          <p:cNvSpPr/>
          <p:nvPr/>
        </p:nvSpPr>
        <p:spPr>
          <a:xfrm>
            <a:off x="496119" y="2406104"/>
            <a:ext cx="3850109"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Digital Icons — Startup Web3 &amp; Gaming</a:t>
            </a:r>
            <a:endParaRPr lang="en-US" sz="1350" dirty="0"/>
          </a:p>
        </p:txBody>
      </p:sp>
      <p:sp>
        <p:nvSpPr>
          <p:cNvPr id="5" name="Text 2"/>
          <p:cNvSpPr/>
          <p:nvPr/>
        </p:nvSpPr>
        <p:spPr>
          <a:xfrm>
            <a:off x="496119" y="2840162"/>
            <a:ext cx="4722763" cy="839912"/>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LOEMBA Jacques Philippe</a:t>
            </a:r>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 · Bac+3 Concepteur Développeur d'Application</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12 Janvier – 26 Juin 2026 - 5 mois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22300"/>
            <a:ext cx="3059906" cy="325338"/>
          </a:xfrm>
          <a:prstGeom prst="rect">
            <a:avLst/>
          </a:prstGeom>
          <a:noFill/>
          <a:ln/>
        </p:spPr>
        <p:txBody>
          <a:bodyPr wrap="none" lIns="0" tIns="0" rIns="0" bIns="0" rtlCol="0" anchor="t"/>
          <a:lstStyle/>
          <a:p>
            <a:pPr algn="l" indent="0" marL="0">
              <a:lnSpc>
                <a:spcPct val="104000"/>
              </a:lnSpc>
              <a:buNone/>
            </a:pPr>
            <a:r>
              <a:rPr lang="en-US" sz="2000" b="1" dirty="0">
                <a:solidFill>
                  <a:srgbClr val="000000"/>
                </a:solidFill>
                <a:latin typeface="Inter Bold" pitchFamily="34" charset="0"/>
                <a:ea typeface="Inter Bold" pitchFamily="34" charset="-122"/>
                <a:cs typeface="Inter Bold" pitchFamily="34" charset="-120"/>
              </a:rPr>
              <a:t>Sommaire</a:t>
            </a:r>
            <a:endParaRPr lang="en-US" sz="2000" dirty="0"/>
          </a:p>
        </p:txBody>
      </p:sp>
      <p:sp>
        <p:nvSpPr>
          <p:cNvPr id="3" name="Text 1"/>
          <p:cNvSpPr/>
          <p:nvPr/>
        </p:nvSpPr>
        <p:spPr>
          <a:xfrm>
            <a:off x="496119" y="900485"/>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01</a:t>
            </a:r>
            <a:endParaRPr lang="en-US" sz="800" dirty="0"/>
          </a:p>
        </p:txBody>
      </p:sp>
      <p:sp>
        <p:nvSpPr>
          <p:cNvPr id="4" name="Shape 2"/>
          <p:cNvSpPr/>
          <p:nvPr/>
        </p:nvSpPr>
        <p:spPr>
          <a:xfrm>
            <a:off x="496119" y="1063005"/>
            <a:ext cx="4037633" cy="14288"/>
          </a:xfrm>
          <a:prstGeom prst="rect">
            <a:avLst/>
          </a:prstGeom>
          <a:solidFill>
            <a:srgbClr val="4950BC"/>
          </a:solidFill>
          <a:ln/>
        </p:spPr>
      </p:sp>
      <p:sp>
        <p:nvSpPr>
          <p:cNvPr id="5" name="Text 3"/>
          <p:cNvSpPr/>
          <p:nvPr/>
        </p:nvSpPr>
        <p:spPr>
          <a:xfrm>
            <a:off x="496119" y="1143595"/>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L'Entreprise</a:t>
            </a:r>
            <a:endParaRPr lang="en-US" sz="1000" dirty="0"/>
          </a:p>
        </p:txBody>
      </p:sp>
      <p:sp>
        <p:nvSpPr>
          <p:cNvPr id="6" name="Text 4"/>
          <p:cNvSpPr/>
          <p:nvPr/>
        </p:nvSpPr>
        <p:spPr>
          <a:xfrm>
            <a:off x="496119" y="1352104"/>
            <a:ext cx="403763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Présentation de Digital Icons, startup Web3 &amp; Gaming</a:t>
            </a:r>
            <a:endParaRPr lang="en-US" sz="800" dirty="0"/>
          </a:p>
        </p:txBody>
      </p:sp>
      <p:sp>
        <p:nvSpPr>
          <p:cNvPr id="7" name="Text 5"/>
          <p:cNvSpPr/>
          <p:nvPr/>
        </p:nvSpPr>
        <p:spPr>
          <a:xfrm>
            <a:off x="4610174" y="900485"/>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02</a:t>
            </a:r>
            <a:endParaRPr lang="en-US" sz="800" dirty="0"/>
          </a:p>
        </p:txBody>
      </p:sp>
      <p:sp>
        <p:nvSpPr>
          <p:cNvPr id="8" name="Shape 6"/>
          <p:cNvSpPr/>
          <p:nvPr/>
        </p:nvSpPr>
        <p:spPr>
          <a:xfrm>
            <a:off x="4610174" y="1063005"/>
            <a:ext cx="4037707" cy="14288"/>
          </a:xfrm>
          <a:prstGeom prst="rect">
            <a:avLst/>
          </a:prstGeom>
          <a:solidFill>
            <a:srgbClr val="4950BC"/>
          </a:solidFill>
          <a:ln/>
        </p:spPr>
      </p:sp>
      <p:sp>
        <p:nvSpPr>
          <p:cNvPr id="9" name="Text 7"/>
          <p:cNvSpPr/>
          <p:nvPr/>
        </p:nvSpPr>
        <p:spPr>
          <a:xfrm>
            <a:off x="4610174" y="1143595"/>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Mes Missions</a:t>
            </a:r>
            <a:endParaRPr lang="en-US" sz="1000" dirty="0"/>
          </a:p>
        </p:txBody>
      </p:sp>
      <p:sp>
        <p:nvSpPr>
          <p:cNvPr id="10" name="Text 8"/>
          <p:cNvSpPr/>
          <p:nvPr/>
        </p:nvSpPr>
        <p:spPr>
          <a:xfrm>
            <a:off x="4610174" y="1352104"/>
            <a:ext cx="4037707" cy="288875"/>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Interfaces Utilisateur, Panel Admin, Authentification Google, Déploiement &amp; Production, Données &amp; BDD et Qualité &amp; Tests</a:t>
            </a:r>
            <a:endParaRPr lang="en-US" sz="800" dirty="0"/>
          </a:p>
        </p:txBody>
      </p:sp>
      <p:sp>
        <p:nvSpPr>
          <p:cNvPr id="11" name="Text 9"/>
          <p:cNvSpPr/>
          <p:nvPr/>
        </p:nvSpPr>
        <p:spPr>
          <a:xfrm>
            <a:off x="496119" y="1795462"/>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03</a:t>
            </a:r>
            <a:endParaRPr lang="en-US" sz="800" dirty="0"/>
          </a:p>
        </p:txBody>
      </p:sp>
      <p:sp>
        <p:nvSpPr>
          <p:cNvPr id="12" name="Shape 10"/>
          <p:cNvSpPr/>
          <p:nvPr/>
        </p:nvSpPr>
        <p:spPr>
          <a:xfrm>
            <a:off x="496119" y="1957983"/>
            <a:ext cx="4037633" cy="14288"/>
          </a:xfrm>
          <a:prstGeom prst="rect">
            <a:avLst/>
          </a:prstGeom>
          <a:solidFill>
            <a:srgbClr val="4950BC"/>
          </a:solidFill>
          <a:ln/>
        </p:spPr>
      </p:sp>
      <p:sp>
        <p:nvSpPr>
          <p:cNvPr id="13" name="Text 11"/>
          <p:cNvSpPr/>
          <p:nvPr/>
        </p:nvSpPr>
        <p:spPr>
          <a:xfrm>
            <a:off x="496119" y="2038573"/>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Gestion de Projet</a:t>
            </a:r>
            <a:endParaRPr lang="en-US" sz="1000" dirty="0"/>
          </a:p>
        </p:txBody>
      </p:sp>
      <p:sp>
        <p:nvSpPr>
          <p:cNvPr id="14" name="Text 12"/>
          <p:cNvSpPr/>
          <p:nvPr/>
        </p:nvSpPr>
        <p:spPr>
          <a:xfrm>
            <a:off x="496119" y="2247081"/>
            <a:ext cx="403763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Méthode Agile Scrum, outils et rituels</a:t>
            </a:r>
            <a:endParaRPr lang="en-US" sz="800" dirty="0"/>
          </a:p>
        </p:txBody>
      </p:sp>
      <p:sp>
        <p:nvSpPr>
          <p:cNvPr id="15" name="Text 13"/>
          <p:cNvSpPr/>
          <p:nvPr/>
        </p:nvSpPr>
        <p:spPr>
          <a:xfrm>
            <a:off x="4610174" y="1795462"/>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04</a:t>
            </a:r>
            <a:endParaRPr lang="en-US" sz="800" dirty="0"/>
          </a:p>
        </p:txBody>
      </p:sp>
      <p:sp>
        <p:nvSpPr>
          <p:cNvPr id="16" name="Shape 14"/>
          <p:cNvSpPr/>
          <p:nvPr/>
        </p:nvSpPr>
        <p:spPr>
          <a:xfrm>
            <a:off x="4610174" y="1957983"/>
            <a:ext cx="4037707" cy="14288"/>
          </a:xfrm>
          <a:prstGeom prst="rect">
            <a:avLst/>
          </a:prstGeom>
          <a:solidFill>
            <a:srgbClr val="4950BC"/>
          </a:solidFill>
          <a:ln/>
        </p:spPr>
      </p:sp>
      <p:sp>
        <p:nvSpPr>
          <p:cNvPr id="17" name="Text 15"/>
          <p:cNvSpPr/>
          <p:nvPr/>
        </p:nvSpPr>
        <p:spPr>
          <a:xfrm>
            <a:off x="4610174" y="2038573"/>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Stack Technique</a:t>
            </a:r>
            <a:endParaRPr lang="en-US" sz="1000" dirty="0"/>
          </a:p>
        </p:txBody>
      </p:sp>
      <p:sp>
        <p:nvSpPr>
          <p:cNvPr id="18" name="Text 16"/>
          <p:cNvSpPr/>
          <p:nvPr/>
        </p:nvSpPr>
        <p:spPr>
          <a:xfrm>
            <a:off x="4610174" y="2247081"/>
            <a:ext cx="4037707"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Langages, frameworks et outils utilisés</a:t>
            </a:r>
            <a:endParaRPr lang="en-US" sz="800" dirty="0"/>
          </a:p>
        </p:txBody>
      </p:sp>
      <p:sp>
        <p:nvSpPr>
          <p:cNvPr id="19" name="Text 17"/>
          <p:cNvSpPr/>
          <p:nvPr/>
        </p:nvSpPr>
        <p:spPr>
          <a:xfrm>
            <a:off x="496119" y="2546003"/>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05</a:t>
            </a:r>
            <a:endParaRPr lang="en-US" sz="800" dirty="0"/>
          </a:p>
        </p:txBody>
      </p:sp>
      <p:sp>
        <p:nvSpPr>
          <p:cNvPr id="20" name="Shape 18"/>
          <p:cNvSpPr/>
          <p:nvPr/>
        </p:nvSpPr>
        <p:spPr>
          <a:xfrm>
            <a:off x="496119" y="2708523"/>
            <a:ext cx="4037633" cy="14288"/>
          </a:xfrm>
          <a:prstGeom prst="rect">
            <a:avLst/>
          </a:prstGeom>
          <a:solidFill>
            <a:srgbClr val="4950BC"/>
          </a:solidFill>
          <a:ln/>
        </p:spPr>
      </p:sp>
      <p:sp>
        <p:nvSpPr>
          <p:cNvPr id="21" name="Text 19"/>
          <p:cNvSpPr/>
          <p:nvPr/>
        </p:nvSpPr>
        <p:spPr>
          <a:xfrm>
            <a:off x="496119" y="2789113"/>
            <a:ext cx="1437829"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Blocs de compétences</a:t>
            </a:r>
            <a:endParaRPr lang="en-US" sz="1000" dirty="0"/>
          </a:p>
        </p:txBody>
      </p:sp>
      <p:sp>
        <p:nvSpPr>
          <p:cNvPr id="22" name="Text 20"/>
          <p:cNvSpPr/>
          <p:nvPr/>
        </p:nvSpPr>
        <p:spPr>
          <a:xfrm>
            <a:off x="496119" y="2997622"/>
            <a:ext cx="403763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Blocs de compétences du référentiel CDA</a:t>
            </a:r>
            <a:endParaRPr lang="en-US" sz="800" dirty="0"/>
          </a:p>
        </p:txBody>
      </p:sp>
      <p:sp>
        <p:nvSpPr>
          <p:cNvPr id="23" name="Text 21"/>
          <p:cNvSpPr/>
          <p:nvPr/>
        </p:nvSpPr>
        <p:spPr>
          <a:xfrm>
            <a:off x="4610174" y="2546003"/>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06</a:t>
            </a:r>
            <a:endParaRPr lang="en-US" sz="800" dirty="0"/>
          </a:p>
        </p:txBody>
      </p:sp>
      <p:sp>
        <p:nvSpPr>
          <p:cNvPr id="24" name="Shape 22"/>
          <p:cNvSpPr/>
          <p:nvPr/>
        </p:nvSpPr>
        <p:spPr>
          <a:xfrm>
            <a:off x="4610174" y="2708523"/>
            <a:ext cx="4037707" cy="14288"/>
          </a:xfrm>
          <a:prstGeom prst="rect">
            <a:avLst/>
          </a:prstGeom>
          <a:solidFill>
            <a:srgbClr val="4950BC"/>
          </a:solidFill>
          <a:ln/>
        </p:spPr>
      </p:sp>
      <p:sp>
        <p:nvSpPr>
          <p:cNvPr id="25" name="Text 23"/>
          <p:cNvSpPr/>
          <p:nvPr/>
        </p:nvSpPr>
        <p:spPr>
          <a:xfrm>
            <a:off x="4610174" y="2789113"/>
            <a:ext cx="1965275"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Bilan Personnel &amp; Perspectives</a:t>
            </a:r>
            <a:endParaRPr lang="en-US" sz="1000" dirty="0"/>
          </a:p>
        </p:txBody>
      </p:sp>
      <p:sp>
        <p:nvSpPr>
          <p:cNvPr id="26" name="Text 24"/>
          <p:cNvSpPr/>
          <p:nvPr/>
        </p:nvSpPr>
        <p:spPr>
          <a:xfrm>
            <a:off x="4610174" y="2997622"/>
            <a:ext cx="4037707"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Réalisations, apprentissages et suite du parcours</a:t>
            </a:r>
            <a:endParaRPr lang="en-US" sz="800" dirty="0"/>
          </a:p>
        </p:txBody>
      </p:sp>
      <p:sp>
        <p:nvSpPr>
          <p:cNvPr id="27" name="Text 25"/>
          <p:cNvSpPr/>
          <p:nvPr/>
        </p:nvSpPr>
        <p:spPr>
          <a:xfrm>
            <a:off x="496119" y="3296543"/>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07</a:t>
            </a:r>
            <a:endParaRPr lang="en-US" sz="800" dirty="0"/>
          </a:p>
        </p:txBody>
      </p:sp>
      <p:sp>
        <p:nvSpPr>
          <p:cNvPr id="28" name="Shape 26"/>
          <p:cNvSpPr/>
          <p:nvPr/>
        </p:nvSpPr>
        <p:spPr>
          <a:xfrm>
            <a:off x="496119" y="3459063"/>
            <a:ext cx="4037633" cy="14288"/>
          </a:xfrm>
          <a:prstGeom prst="rect">
            <a:avLst/>
          </a:prstGeom>
          <a:solidFill>
            <a:srgbClr val="4950BC"/>
          </a:solidFill>
          <a:ln/>
        </p:spPr>
      </p:sp>
      <p:sp>
        <p:nvSpPr>
          <p:cNvPr id="29" name="Text 27"/>
          <p:cNvSpPr/>
          <p:nvPr/>
        </p:nvSpPr>
        <p:spPr>
          <a:xfrm>
            <a:off x="496119" y="3539654"/>
            <a:ext cx="20982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Aperçu du Produit — Icons Arena</a:t>
            </a:r>
            <a:endParaRPr lang="en-US" sz="1000" dirty="0"/>
          </a:p>
        </p:txBody>
      </p:sp>
      <p:sp>
        <p:nvSpPr>
          <p:cNvPr id="30" name="Text 28"/>
          <p:cNvSpPr/>
          <p:nvPr/>
        </p:nvSpPr>
        <p:spPr>
          <a:xfrm>
            <a:off x="496119" y="3748162"/>
            <a:ext cx="403763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Icons Arena, panel admin et modélisation des données</a:t>
            </a:r>
            <a:endParaRPr lang="en-US" sz="800" dirty="0"/>
          </a:p>
        </p:txBody>
      </p:sp>
      <p:sp>
        <p:nvSpPr>
          <p:cNvPr id="31" name="Text 29"/>
          <p:cNvSpPr/>
          <p:nvPr/>
        </p:nvSpPr>
        <p:spPr>
          <a:xfrm>
            <a:off x="4610174" y="3296543"/>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08</a:t>
            </a:r>
            <a:endParaRPr lang="en-US" sz="800" dirty="0"/>
          </a:p>
        </p:txBody>
      </p:sp>
      <p:sp>
        <p:nvSpPr>
          <p:cNvPr id="32" name="Shape 30"/>
          <p:cNvSpPr/>
          <p:nvPr/>
        </p:nvSpPr>
        <p:spPr>
          <a:xfrm>
            <a:off x="4610174" y="3459063"/>
            <a:ext cx="4037707" cy="14288"/>
          </a:xfrm>
          <a:prstGeom prst="rect">
            <a:avLst/>
          </a:prstGeom>
          <a:solidFill>
            <a:srgbClr val="4950BC"/>
          </a:solidFill>
          <a:ln/>
        </p:spPr>
      </p:sp>
      <p:sp>
        <p:nvSpPr>
          <p:cNvPr id="33" name="Text 31"/>
          <p:cNvSpPr/>
          <p:nvPr/>
        </p:nvSpPr>
        <p:spPr>
          <a:xfrm>
            <a:off x="4610174" y="3539654"/>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Remerciements</a:t>
            </a:r>
            <a:endParaRPr lang="en-US" sz="1000" dirty="0"/>
          </a:p>
        </p:txBody>
      </p:sp>
      <p:sp>
        <p:nvSpPr>
          <p:cNvPr id="34" name="Text 32"/>
          <p:cNvSpPr/>
          <p:nvPr/>
        </p:nvSpPr>
        <p:spPr>
          <a:xfrm>
            <a:off x="4610174" y="3748162"/>
            <a:ext cx="4037707"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Gratitude envers l'équipe Digital Icons</a:t>
            </a:r>
            <a:endParaRPr lang="en-US" sz="800" dirty="0"/>
          </a:p>
        </p:txBody>
      </p:sp>
      <p:sp>
        <p:nvSpPr>
          <p:cNvPr id="35" name="Text 33"/>
          <p:cNvSpPr/>
          <p:nvPr/>
        </p:nvSpPr>
        <p:spPr>
          <a:xfrm>
            <a:off x="496119" y="4047083"/>
            <a:ext cx="208211" cy="130076"/>
          </a:xfrm>
          <a:prstGeom prst="rect">
            <a:avLst/>
          </a:prstGeom>
          <a:noFill/>
          <a:ln/>
        </p:spPr>
        <p:txBody>
          <a:bodyPr wrap="none" lIns="0" tIns="0" rIns="0" bIns="0" rtlCol="0" anchor="ctr"/>
          <a:lstStyle/>
          <a:p>
            <a:pPr algn="l" indent="0" marL="0">
              <a:lnSpc>
                <a:spcPct val="100000"/>
              </a:lnSpc>
              <a:buNone/>
            </a:pPr>
            <a:r>
              <a:rPr lang="en-US" sz="800" dirty="0">
                <a:solidFill>
                  <a:srgbClr val="272525"/>
                </a:solidFill>
                <a:latin typeface="Inter Light" pitchFamily="34" charset="0"/>
                <a:ea typeface="Inter Light" pitchFamily="34" charset="-122"/>
                <a:cs typeface="Inter Light" pitchFamily="34" charset="-120"/>
              </a:rPr>
              <a:t>09</a:t>
            </a:r>
            <a:endParaRPr lang="en-US" sz="800" dirty="0"/>
          </a:p>
        </p:txBody>
      </p:sp>
      <p:sp>
        <p:nvSpPr>
          <p:cNvPr id="36" name="Shape 34"/>
          <p:cNvSpPr/>
          <p:nvPr/>
        </p:nvSpPr>
        <p:spPr>
          <a:xfrm>
            <a:off x="496119" y="4209604"/>
            <a:ext cx="8151763" cy="14288"/>
          </a:xfrm>
          <a:prstGeom prst="rect">
            <a:avLst/>
          </a:prstGeom>
          <a:solidFill>
            <a:srgbClr val="4950BC"/>
          </a:solidFill>
          <a:ln/>
        </p:spPr>
      </p:sp>
      <p:sp>
        <p:nvSpPr>
          <p:cNvPr id="37" name="Text 35"/>
          <p:cNvSpPr/>
          <p:nvPr/>
        </p:nvSpPr>
        <p:spPr>
          <a:xfrm>
            <a:off x="496119" y="4290194"/>
            <a:ext cx="1301353" cy="162669"/>
          </a:xfrm>
          <a:prstGeom prst="rect">
            <a:avLst/>
          </a:prstGeom>
          <a:noFill/>
          <a:ln/>
        </p:spPr>
        <p:txBody>
          <a:bodyPr wrap="none" lIns="0" tIns="0" rIns="0" bIns="0" rtlCol="0" anchor="t"/>
          <a:lstStyle/>
          <a:p>
            <a:pPr algn="l" indent="0" marL="0">
              <a:lnSpc>
                <a:spcPct val="104000"/>
              </a:lnSpc>
              <a:buNone/>
            </a:pPr>
            <a:r>
              <a:rPr lang="en-US" sz="1000" b="1" dirty="0">
                <a:solidFill>
                  <a:srgbClr val="272525"/>
                </a:solidFill>
                <a:latin typeface="Inter Bold" pitchFamily="34" charset="0"/>
                <a:ea typeface="Inter Bold" pitchFamily="34" charset="-122"/>
                <a:cs typeface="Inter Bold" pitchFamily="34" charset="-120"/>
              </a:rPr>
              <a:t>Conclusion</a:t>
            </a:r>
            <a:endParaRPr lang="en-US" sz="1000" dirty="0"/>
          </a:p>
        </p:txBody>
      </p:sp>
      <p:sp>
        <p:nvSpPr>
          <p:cNvPr id="38" name="Text 36"/>
          <p:cNvSpPr/>
          <p:nvPr/>
        </p:nvSpPr>
        <p:spPr>
          <a:xfrm>
            <a:off x="496119" y="4498702"/>
            <a:ext cx="815176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Gratitude envers l'équipe Digital Icons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538386"/>
            <a:ext cx="1156246" cy="266402"/>
          </a:xfrm>
          <a:prstGeom prst="roundRect">
            <a:avLst>
              <a:gd name="adj" fmla="val 17880"/>
            </a:avLst>
          </a:prstGeom>
          <a:solidFill>
            <a:srgbClr val="DADBF1"/>
          </a:solidFill>
          <a:ln/>
        </p:spPr>
      </p:sp>
      <p:sp>
        <p:nvSpPr>
          <p:cNvPr id="3" name="Text 1"/>
          <p:cNvSpPr/>
          <p:nvPr/>
        </p:nvSpPr>
        <p:spPr>
          <a:xfrm>
            <a:off x="581174" y="580876"/>
            <a:ext cx="1443335" cy="181421"/>
          </a:xfrm>
          <a:prstGeom prst="rect">
            <a:avLst/>
          </a:prstGeom>
          <a:noFill/>
          <a:ln/>
        </p:spPr>
        <p:txBody>
          <a:bodyPr wrap="none" lIns="0" tIns="0" rIns="0" bIns="0" rtlCol="0" anchor="t"/>
          <a:lstStyle/>
          <a:p>
            <a:pPr algn="l" indent="0" marL="0">
              <a:lnSpc>
                <a:spcPct val="133000"/>
              </a:lnSpc>
              <a:buNone/>
            </a:pPr>
            <a:r>
              <a:rPr lang="en-US" sz="850" dirty="0">
                <a:solidFill>
                  <a:srgbClr val="272525"/>
                </a:solidFill>
                <a:latin typeface="Inter" pitchFamily="34" charset="0"/>
                <a:ea typeface="Inter" pitchFamily="34" charset="-122"/>
                <a:cs typeface="Inter" pitchFamily="34" charset="-120"/>
              </a:rPr>
              <a:t>01 · L'ENTREPRISE</a:t>
            </a:r>
            <a:endParaRPr lang="en-US" sz="850" dirty="0"/>
          </a:p>
        </p:txBody>
      </p:sp>
      <p:sp>
        <p:nvSpPr>
          <p:cNvPr id="4" name="Text 2"/>
          <p:cNvSpPr/>
          <p:nvPr/>
        </p:nvSpPr>
        <p:spPr>
          <a:xfrm>
            <a:off x="496119" y="861492"/>
            <a:ext cx="4001319"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Digital Icons</a:t>
            </a:r>
            <a:endParaRPr lang="en-US" sz="2750" dirty="0"/>
          </a:p>
        </p:txBody>
      </p:sp>
      <p:sp>
        <p:nvSpPr>
          <p:cNvPr id="5" name="Text 3"/>
          <p:cNvSpPr/>
          <p:nvPr/>
        </p:nvSpPr>
        <p:spPr>
          <a:xfrm>
            <a:off x="496119" y="1517079"/>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Une startup à l'intersection du gaming, du Web3 et du marketing digital</a:t>
            </a:r>
            <a:endParaRPr lang="en-US" sz="1100" dirty="0"/>
          </a:p>
        </p:txBody>
      </p:sp>
      <p:sp>
        <p:nvSpPr>
          <p:cNvPr id="6" name="Shape 4"/>
          <p:cNvSpPr/>
          <p:nvPr/>
        </p:nvSpPr>
        <p:spPr>
          <a:xfrm>
            <a:off x="496119" y="1903363"/>
            <a:ext cx="4004965" cy="1279996"/>
          </a:xfrm>
          <a:prstGeom prst="roundRect">
            <a:avLst>
              <a:gd name="adj" fmla="val 4652"/>
            </a:avLst>
          </a:prstGeom>
          <a:solidFill>
            <a:srgbClr val="DADBF1"/>
          </a:solidFill>
          <a:ln w="4763">
            <a:solidFill>
              <a:srgbClr val="C0C1D7"/>
            </a:solidFill>
            <a:prstDash val="solid"/>
          </a:ln>
        </p:spPr>
      </p:sp>
      <p:sp>
        <p:nvSpPr>
          <p:cNvPr id="7" name="Text 5"/>
          <p:cNvSpPr/>
          <p:nvPr/>
        </p:nvSpPr>
        <p:spPr>
          <a:xfrm>
            <a:off x="642640" y="2049884"/>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Structure</a:t>
            </a:r>
            <a:endParaRPr lang="en-US" sz="1350" dirty="0"/>
          </a:p>
        </p:txBody>
      </p:sp>
      <p:sp>
        <p:nvSpPr>
          <p:cNvPr id="8" name="Text 6"/>
          <p:cNvSpPr/>
          <p:nvPr/>
        </p:nvSpPr>
        <p:spPr>
          <a:xfrm>
            <a:off x="642640" y="2356396"/>
            <a:ext cx="371192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SAS Digital Icons, fondée à Perpignan. Équipe réduite, structure agile et environnement en constante évolution.</a:t>
            </a:r>
            <a:endParaRPr lang="en-US" sz="1100" dirty="0"/>
          </a:p>
        </p:txBody>
      </p:sp>
      <p:sp>
        <p:nvSpPr>
          <p:cNvPr id="9" name="Shape 7"/>
          <p:cNvSpPr/>
          <p:nvPr/>
        </p:nvSpPr>
        <p:spPr>
          <a:xfrm>
            <a:off x="4642842" y="1903363"/>
            <a:ext cx="4005039" cy="1279996"/>
          </a:xfrm>
          <a:prstGeom prst="roundRect">
            <a:avLst>
              <a:gd name="adj" fmla="val 4652"/>
            </a:avLst>
          </a:prstGeom>
          <a:solidFill>
            <a:srgbClr val="DADBF1"/>
          </a:solidFill>
          <a:ln w="4763">
            <a:solidFill>
              <a:srgbClr val="C0C1D7"/>
            </a:solidFill>
            <a:prstDash val="solid"/>
          </a:ln>
        </p:spPr>
      </p:sp>
      <p:sp>
        <p:nvSpPr>
          <p:cNvPr id="10" name="Text 8"/>
          <p:cNvSpPr/>
          <p:nvPr/>
        </p:nvSpPr>
        <p:spPr>
          <a:xfrm>
            <a:off x="4789363" y="2049884"/>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Secteur</a:t>
            </a:r>
            <a:endParaRPr lang="en-US" sz="1350" dirty="0"/>
          </a:p>
        </p:txBody>
      </p:sp>
      <p:sp>
        <p:nvSpPr>
          <p:cNvPr id="11" name="Text 9"/>
          <p:cNvSpPr/>
          <p:nvPr/>
        </p:nvSpPr>
        <p:spPr>
          <a:xfrm>
            <a:off x="4789363" y="2356396"/>
            <a:ext cx="371199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Jeux vidéo · Blockchain · Marketing digital. À la pointe des technologies Web3 et de l'économie numérique.</a:t>
            </a:r>
            <a:endParaRPr lang="en-US" sz="1100" dirty="0"/>
          </a:p>
        </p:txBody>
      </p:sp>
      <p:sp>
        <p:nvSpPr>
          <p:cNvPr id="12" name="Shape 10"/>
          <p:cNvSpPr/>
          <p:nvPr/>
        </p:nvSpPr>
        <p:spPr>
          <a:xfrm>
            <a:off x="496119" y="3325118"/>
            <a:ext cx="4004965" cy="1279996"/>
          </a:xfrm>
          <a:prstGeom prst="roundRect">
            <a:avLst>
              <a:gd name="adj" fmla="val 4652"/>
            </a:avLst>
          </a:prstGeom>
          <a:solidFill>
            <a:srgbClr val="DADBF1"/>
          </a:solidFill>
          <a:ln w="4763">
            <a:solidFill>
              <a:srgbClr val="C0C1D7"/>
            </a:solidFill>
            <a:prstDash val="solid"/>
          </a:ln>
        </p:spPr>
      </p:sp>
      <p:sp>
        <p:nvSpPr>
          <p:cNvPr id="13" name="Text 11"/>
          <p:cNvSpPr/>
          <p:nvPr/>
        </p:nvSpPr>
        <p:spPr>
          <a:xfrm>
            <a:off x="642640" y="347163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Produit Phare</a:t>
            </a:r>
            <a:endParaRPr lang="en-US" sz="1350" dirty="0"/>
          </a:p>
        </p:txBody>
      </p:sp>
      <p:sp>
        <p:nvSpPr>
          <p:cNvPr id="14" name="Text 12"/>
          <p:cNvSpPr/>
          <p:nvPr/>
        </p:nvSpPr>
        <p:spPr>
          <a:xfrm>
            <a:off x="642640" y="3778151"/>
            <a:ext cx="3711922" cy="453628"/>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Icons Arena</a:t>
            </a:r>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 — jeu de cartes en ligne basé sur la blockchain avec des NFTs intégrés.</a:t>
            </a:r>
            <a:endParaRPr lang="en-US" sz="1100" dirty="0"/>
          </a:p>
        </p:txBody>
      </p:sp>
      <p:sp>
        <p:nvSpPr>
          <p:cNvPr id="15" name="Shape 13"/>
          <p:cNvSpPr/>
          <p:nvPr/>
        </p:nvSpPr>
        <p:spPr>
          <a:xfrm>
            <a:off x="4642842" y="3325118"/>
            <a:ext cx="4005039" cy="1279996"/>
          </a:xfrm>
          <a:prstGeom prst="roundRect">
            <a:avLst>
              <a:gd name="adj" fmla="val 4652"/>
            </a:avLst>
          </a:prstGeom>
          <a:solidFill>
            <a:srgbClr val="DADBF1"/>
          </a:solidFill>
          <a:ln w="4763">
            <a:solidFill>
              <a:srgbClr val="C0C1D7"/>
            </a:solidFill>
            <a:prstDash val="solid"/>
          </a:ln>
        </p:spPr>
      </p:sp>
      <p:sp>
        <p:nvSpPr>
          <p:cNvPr id="16" name="Text 14"/>
          <p:cNvSpPr/>
          <p:nvPr/>
        </p:nvSpPr>
        <p:spPr>
          <a:xfrm>
            <a:off x="4789363" y="3471639"/>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Mon Rôle</a:t>
            </a:r>
            <a:endParaRPr lang="en-US" sz="1350" dirty="0"/>
          </a:p>
        </p:txBody>
      </p:sp>
      <p:sp>
        <p:nvSpPr>
          <p:cNvPr id="17" name="Text 15"/>
          <p:cNvSpPr/>
          <p:nvPr/>
        </p:nvSpPr>
        <p:spPr>
          <a:xfrm>
            <a:off x="4789363" y="3778151"/>
            <a:ext cx="371199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Stagiaire Développeur Full Stack, intégré à l'équipe produit : interfaces utilisateur, panel admin, données et base de données.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31974"/>
            <a:ext cx="1023789" cy="207690"/>
          </a:xfrm>
          <a:prstGeom prst="roundRect">
            <a:avLst>
              <a:gd name="adj" fmla="val 18993"/>
            </a:avLst>
          </a:prstGeom>
          <a:solidFill>
            <a:srgbClr val="DADBF1"/>
          </a:solidFill>
          <a:ln/>
        </p:spPr>
      </p:sp>
      <p:sp>
        <p:nvSpPr>
          <p:cNvPr id="3" name="Text 1"/>
          <p:cNvSpPr/>
          <p:nvPr/>
        </p:nvSpPr>
        <p:spPr>
          <a:xfrm>
            <a:off x="566514" y="467171"/>
            <a:ext cx="1340197" cy="137294"/>
          </a:xfrm>
          <a:prstGeom prst="rect">
            <a:avLst/>
          </a:prstGeom>
          <a:noFill/>
          <a:ln/>
        </p:spPr>
        <p:txBody>
          <a:bodyPr wrap="none" lIns="0" tIns="0" rIns="0" bIns="0" rtlCol="0" anchor="t"/>
          <a:lstStyle/>
          <a:p>
            <a:pPr algn="l" indent="0" marL="0">
              <a:lnSpc>
                <a:spcPct val="122000"/>
              </a:lnSpc>
              <a:buNone/>
            </a:pPr>
            <a:r>
              <a:rPr lang="en-US" sz="700" dirty="0">
                <a:solidFill>
                  <a:srgbClr val="272525"/>
                </a:solidFill>
                <a:latin typeface="Inter" pitchFamily="34" charset="0"/>
                <a:ea typeface="Inter" pitchFamily="34" charset="-122"/>
                <a:cs typeface="Inter" pitchFamily="34" charset="-120"/>
              </a:rPr>
              <a:t>02 · MES MISSIONS</a:t>
            </a:r>
            <a:endParaRPr lang="en-US" sz="700" dirty="0"/>
          </a:p>
        </p:txBody>
      </p:sp>
      <p:sp>
        <p:nvSpPr>
          <p:cNvPr id="4" name="Text 2"/>
          <p:cNvSpPr/>
          <p:nvPr/>
        </p:nvSpPr>
        <p:spPr>
          <a:xfrm>
            <a:off x="496119" y="678507"/>
            <a:ext cx="4528096" cy="366861"/>
          </a:xfrm>
          <a:prstGeom prst="rect">
            <a:avLst/>
          </a:prstGeom>
          <a:noFill/>
          <a:ln/>
        </p:spPr>
        <p:txBody>
          <a:bodyPr wrap="none" lIns="0" tIns="0" rIns="0" bIns="0" rtlCol="0" anchor="t"/>
          <a:lstStyle/>
          <a:p>
            <a:pPr algn="l" indent="0" marL="0">
              <a:lnSpc>
                <a:spcPct val="104000"/>
              </a:lnSpc>
              <a:buNone/>
            </a:pPr>
            <a:r>
              <a:rPr lang="en-US" sz="2300" b="1" dirty="0">
                <a:solidFill>
                  <a:srgbClr val="000000"/>
                </a:solidFill>
                <a:latin typeface="Inter Bold" pitchFamily="34" charset="0"/>
                <a:ea typeface="Inter Bold" pitchFamily="34" charset="-122"/>
                <a:cs typeface="Inter Bold" pitchFamily="34" charset="-120"/>
              </a:rPr>
              <a:t>Quatre Axes de Contribution</a:t>
            </a:r>
            <a:endParaRPr lang="en-US" sz="23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191146"/>
            <a:ext cx="4027289" cy="1797397"/>
          </a:xfrm>
          <a:prstGeom prst="rect">
            <a:avLst/>
          </a:prstGeom>
        </p:spPr>
      </p:pic>
      <p:sp>
        <p:nvSpPr>
          <p:cNvPr id="6" name="Text 3"/>
          <p:cNvSpPr/>
          <p:nvPr/>
        </p:nvSpPr>
        <p:spPr>
          <a:xfrm>
            <a:off x="2421731" y="1269057"/>
            <a:ext cx="176064" cy="220117"/>
          </a:xfrm>
          <a:prstGeom prst="rect">
            <a:avLst/>
          </a:prstGeom>
          <a:noFill/>
          <a:ln/>
        </p:spPr>
        <p:txBody>
          <a:bodyPr wrap="none" lIns="0" tIns="0" rIns="0" bIns="0" rtlCol="0" anchor="ctr"/>
          <a:lstStyle/>
          <a:p>
            <a:pPr algn="ctr" indent="0" marL="0">
              <a:lnSpc>
                <a:spcPct val="100000"/>
              </a:lnSpc>
              <a:buNone/>
            </a:pPr>
            <a:r>
              <a:rPr lang="en-US" sz="1350" b="1" dirty="0">
                <a:solidFill>
                  <a:srgbClr val="272525"/>
                </a:solidFill>
                <a:latin typeface="Inter Bold" pitchFamily="34" charset="0"/>
                <a:ea typeface="Inter Bold" pitchFamily="34" charset="-122"/>
                <a:cs typeface="Inter Bold" pitchFamily="34" charset="-120"/>
              </a:rPr>
              <a:t>1</a:t>
            </a:r>
            <a:endParaRPr lang="en-US" sz="1350" dirty="0"/>
          </a:p>
        </p:txBody>
      </p:sp>
      <p:sp>
        <p:nvSpPr>
          <p:cNvPr id="7" name="Text 4"/>
          <p:cNvSpPr/>
          <p:nvPr/>
        </p:nvSpPr>
        <p:spPr>
          <a:xfrm>
            <a:off x="627757" y="1654820"/>
            <a:ext cx="1504280"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Interfaces Utilisateur</a:t>
            </a:r>
            <a:endParaRPr lang="en-US" sz="1150" dirty="0"/>
          </a:p>
        </p:txBody>
      </p:sp>
      <p:sp>
        <p:nvSpPr>
          <p:cNvPr id="8" name="Text 5"/>
          <p:cNvSpPr/>
          <p:nvPr/>
        </p:nvSpPr>
        <p:spPr>
          <a:xfrm>
            <a:off x="627757" y="1896517"/>
            <a:ext cx="3764012" cy="754707"/>
          </a:xfrm>
          <a:prstGeom prst="rect">
            <a:avLst/>
          </a:prstGeom>
          <a:noFill/>
          <a:ln/>
        </p:spPr>
        <p:txBody>
          <a:bodyPr wrap="square" lIns="0" tIns="0" rIns="0" bIns="0" rtlCol="0" anchor="t">
            <a:normAutofit/>
          </a:bodyPr>
          <a:lstStyle/>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Pages collection, marketplace et marché secondaire</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Système de boosters avec effets visuels </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Composants réutilisables et validation défensive des entrées (XSS / CSRF)</a:t>
            </a:r>
            <a:endParaRPr lang="en-US" sz="9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0592" y="1191146"/>
            <a:ext cx="4027289" cy="1797397"/>
          </a:xfrm>
          <a:prstGeom prst="rect">
            <a:avLst/>
          </a:prstGeom>
        </p:spPr>
      </p:pic>
      <p:sp>
        <p:nvSpPr>
          <p:cNvPr id="10" name="Text 6"/>
          <p:cNvSpPr/>
          <p:nvPr/>
        </p:nvSpPr>
        <p:spPr>
          <a:xfrm>
            <a:off x="6546205" y="1269057"/>
            <a:ext cx="176064" cy="220117"/>
          </a:xfrm>
          <a:prstGeom prst="rect">
            <a:avLst/>
          </a:prstGeom>
          <a:noFill/>
          <a:ln/>
        </p:spPr>
        <p:txBody>
          <a:bodyPr wrap="none" lIns="0" tIns="0" rIns="0" bIns="0" rtlCol="0" anchor="ctr"/>
          <a:lstStyle/>
          <a:p>
            <a:pPr algn="ctr" indent="0" marL="0">
              <a:lnSpc>
                <a:spcPct val="100000"/>
              </a:lnSpc>
              <a:buNone/>
            </a:pPr>
            <a:r>
              <a:rPr lang="en-US" sz="1350" b="1" dirty="0">
                <a:solidFill>
                  <a:srgbClr val="272525"/>
                </a:solidFill>
                <a:latin typeface="Inter Bold" pitchFamily="34" charset="0"/>
                <a:ea typeface="Inter Bold" pitchFamily="34" charset="-122"/>
                <a:cs typeface="Inter Bold" pitchFamily="34" charset="-120"/>
              </a:rPr>
              <a:t>2</a:t>
            </a:r>
            <a:endParaRPr lang="en-US" sz="1350" dirty="0"/>
          </a:p>
        </p:txBody>
      </p:sp>
      <p:sp>
        <p:nvSpPr>
          <p:cNvPr id="11" name="Text 7"/>
          <p:cNvSpPr/>
          <p:nvPr/>
        </p:nvSpPr>
        <p:spPr>
          <a:xfrm>
            <a:off x="4752231" y="1654820"/>
            <a:ext cx="1467445"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Panel Admin</a:t>
            </a:r>
            <a:endParaRPr lang="en-US" sz="1150" dirty="0"/>
          </a:p>
        </p:txBody>
      </p:sp>
      <p:sp>
        <p:nvSpPr>
          <p:cNvPr id="12" name="Text 8"/>
          <p:cNvSpPr/>
          <p:nvPr/>
        </p:nvSpPr>
        <p:spPr>
          <a:xfrm>
            <a:off x="4752231" y="1896517"/>
            <a:ext cx="3764012" cy="960388"/>
          </a:xfrm>
          <a:prstGeom prst="rect">
            <a:avLst/>
          </a:prstGeom>
          <a:noFill/>
          <a:ln/>
        </p:spPr>
        <p:txBody>
          <a:bodyPr wrap="square" lIns="0" tIns="0" rIns="0" bIns="0" rtlCol="0" anchor="t">
            <a:normAutofit/>
          </a:bodyPr>
          <a:lstStyle/>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Architecture modulaire multicouche</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Composants métier sécurisés (économie, promotions, badges, missions, leagues)</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Gestion des permissions par rôle (recommandations ANSSI)</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Onboarding configurable en temps réel</a:t>
            </a:r>
            <a:endParaRPr lang="en-US" sz="9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085728"/>
            <a:ext cx="4027289" cy="1625724"/>
          </a:xfrm>
          <a:prstGeom prst="rect">
            <a:avLst/>
          </a:prstGeom>
        </p:spPr>
      </p:pic>
      <p:sp>
        <p:nvSpPr>
          <p:cNvPr id="14" name="Text 9"/>
          <p:cNvSpPr/>
          <p:nvPr/>
        </p:nvSpPr>
        <p:spPr>
          <a:xfrm>
            <a:off x="2421731" y="3163639"/>
            <a:ext cx="176064" cy="220117"/>
          </a:xfrm>
          <a:prstGeom prst="rect">
            <a:avLst/>
          </a:prstGeom>
          <a:noFill/>
          <a:ln/>
        </p:spPr>
        <p:txBody>
          <a:bodyPr wrap="none" lIns="0" tIns="0" rIns="0" bIns="0" rtlCol="0" anchor="ctr"/>
          <a:lstStyle/>
          <a:p>
            <a:pPr algn="ctr" indent="0" marL="0">
              <a:lnSpc>
                <a:spcPct val="100000"/>
              </a:lnSpc>
              <a:buNone/>
            </a:pPr>
            <a:r>
              <a:rPr lang="en-US" sz="1350" b="1" dirty="0">
                <a:solidFill>
                  <a:srgbClr val="272525"/>
                </a:solidFill>
                <a:latin typeface="Inter Bold" pitchFamily="34" charset="0"/>
                <a:ea typeface="Inter Bold" pitchFamily="34" charset="-122"/>
                <a:cs typeface="Inter Bold" pitchFamily="34" charset="-120"/>
              </a:rPr>
              <a:t>3</a:t>
            </a:r>
            <a:endParaRPr lang="en-US" sz="1350" dirty="0"/>
          </a:p>
        </p:txBody>
      </p:sp>
      <p:sp>
        <p:nvSpPr>
          <p:cNvPr id="15" name="Text 10"/>
          <p:cNvSpPr/>
          <p:nvPr/>
        </p:nvSpPr>
        <p:spPr>
          <a:xfrm>
            <a:off x="627757" y="3549402"/>
            <a:ext cx="2039838"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Données &amp; Base de Données</a:t>
            </a:r>
            <a:endParaRPr lang="en-US" sz="1150" dirty="0"/>
          </a:p>
        </p:txBody>
      </p:sp>
      <p:sp>
        <p:nvSpPr>
          <p:cNvPr id="16" name="Text 11"/>
          <p:cNvSpPr/>
          <p:nvPr/>
        </p:nvSpPr>
        <p:spPr>
          <a:xfrm>
            <a:off x="627757" y="3791099"/>
            <a:ext cx="3764012" cy="754707"/>
          </a:xfrm>
          <a:prstGeom prst="rect">
            <a:avLst/>
          </a:prstGeom>
          <a:noFill/>
          <a:ln/>
        </p:spPr>
        <p:txBody>
          <a:bodyPr wrap="square" lIns="0" tIns="0" rIns="0" bIns="0" rtlCol="0" anchor="t">
            <a:normAutofit/>
          </a:bodyPr>
          <a:lstStyle/>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Modélisation conceptuelle, logique et physique (PostgreSQL via Supabase)</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CRUD avec intégrité et confidentialité (RLS)</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Migrations SQL idempotentes versionnées dans Git</a:t>
            </a:r>
            <a:endParaRPr lang="en-US" sz="9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20592" y="3085728"/>
            <a:ext cx="4027289" cy="1625724"/>
          </a:xfrm>
          <a:prstGeom prst="rect">
            <a:avLst/>
          </a:prstGeom>
        </p:spPr>
      </p:pic>
      <p:sp>
        <p:nvSpPr>
          <p:cNvPr id="18" name="Text 12"/>
          <p:cNvSpPr/>
          <p:nvPr/>
        </p:nvSpPr>
        <p:spPr>
          <a:xfrm>
            <a:off x="6546205" y="3163639"/>
            <a:ext cx="176064" cy="220117"/>
          </a:xfrm>
          <a:prstGeom prst="rect">
            <a:avLst/>
          </a:prstGeom>
          <a:noFill/>
          <a:ln/>
        </p:spPr>
        <p:txBody>
          <a:bodyPr wrap="none" lIns="0" tIns="0" rIns="0" bIns="0" rtlCol="0" anchor="ctr"/>
          <a:lstStyle/>
          <a:p>
            <a:pPr algn="ctr" indent="0" marL="0">
              <a:lnSpc>
                <a:spcPct val="100000"/>
              </a:lnSpc>
              <a:buNone/>
            </a:pPr>
            <a:r>
              <a:rPr lang="en-US" sz="1350" b="1" dirty="0">
                <a:solidFill>
                  <a:srgbClr val="272525"/>
                </a:solidFill>
                <a:latin typeface="Inter Bold" pitchFamily="34" charset="0"/>
                <a:ea typeface="Inter Bold" pitchFamily="34" charset="-122"/>
                <a:cs typeface="Inter Bold" pitchFamily="34" charset="-120"/>
              </a:rPr>
              <a:t>4</a:t>
            </a:r>
            <a:endParaRPr lang="en-US" sz="1350" dirty="0"/>
          </a:p>
        </p:txBody>
      </p:sp>
      <p:sp>
        <p:nvSpPr>
          <p:cNvPr id="19" name="Text 13"/>
          <p:cNvSpPr/>
          <p:nvPr/>
        </p:nvSpPr>
        <p:spPr>
          <a:xfrm>
            <a:off x="4752231" y="3549402"/>
            <a:ext cx="1467445"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Qualité &amp; Analyse</a:t>
            </a:r>
            <a:endParaRPr lang="en-US" sz="1150" dirty="0"/>
          </a:p>
        </p:txBody>
      </p:sp>
      <p:sp>
        <p:nvSpPr>
          <p:cNvPr id="20" name="Text 14"/>
          <p:cNvSpPr/>
          <p:nvPr/>
        </p:nvSpPr>
        <p:spPr>
          <a:xfrm>
            <a:off x="4752231" y="3791099"/>
            <a:ext cx="3764012" cy="788715"/>
          </a:xfrm>
          <a:prstGeom prst="rect">
            <a:avLst/>
          </a:prstGeom>
          <a:noFill/>
          <a:ln/>
        </p:spPr>
        <p:txBody>
          <a:bodyPr wrap="square" lIns="0" tIns="0" rIns="0" bIns="0" rtlCol="0" anchor="t">
            <a:normAutofit/>
          </a:bodyPr>
          <a:lstStyle/>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Analyse des besoins B2B/B2C</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Tests unitaires et de sécurité</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Documentation technique FR/EN</a:t>
            </a:r>
            <a:endParaRPr lang="en-US" sz="900" dirty="0"/>
          </a:p>
          <a:p>
            <a:pPr algn="l" marL="182880" indent="-182880">
              <a:lnSpc>
                <a:spcPct val="122000"/>
              </a:lnSpc>
              <a:buSzPct val="100000"/>
              <a:buChar char="•"/>
            </a:pPr>
            <a:r>
              <a:rPr lang="en-US" sz="900" dirty="0">
                <a:solidFill>
                  <a:srgbClr val="272525"/>
                </a:solidFill>
                <a:latin typeface="Inter" pitchFamily="34" charset="0"/>
                <a:ea typeface="Inter" pitchFamily="34" charset="-122"/>
                <a:cs typeface="Inter" pitchFamily="34" charset="-120"/>
              </a:rPr>
              <a:t>Veille technologique continue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8831"/>
            <a:ext cx="3102992" cy="283741"/>
          </a:xfrm>
          <a:prstGeom prst="rect">
            <a:avLst/>
          </a:prstGeom>
          <a:noFill/>
          <a:ln/>
        </p:spPr>
        <p:txBody>
          <a:bodyPr wrap="none" lIns="0" tIns="0" rIns="0" bIns="0" rtlCol="0" anchor="t"/>
          <a:lstStyle/>
          <a:p>
            <a:pPr algn="l" indent="0" marL="0">
              <a:lnSpc>
                <a:spcPct val="104000"/>
              </a:lnSpc>
              <a:buNone/>
            </a:pPr>
            <a:r>
              <a:rPr lang="en-US" sz="1750" b="1" dirty="0">
                <a:solidFill>
                  <a:srgbClr val="000000"/>
                </a:solidFill>
                <a:latin typeface="Inter Bold" pitchFamily="34" charset="0"/>
                <a:ea typeface="Inter Bold" pitchFamily="34" charset="-122"/>
                <a:cs typeface="Inter Bold" pitchFamily="34" charset="-120"/>
              </a:rPr>
              <a:t>Authentification Google</a:t>
            </a:r>
            <a:endParaRPr lang="en-US" sz="1750" dirty="0"/>
          </a:p>
        </p:txBody>
      </p:sp>
      <p:sp>
        <p:nvSpPr>
          <p:cNvPr id="3" name="Text 1"/>
          <p:cNvSpPr/>
          <p:nvPr/>
        </p:nvSpPr>
        <p:spPr>
          <a:xfrm>
            <a:off x="496119" y="808881"/>
            <a:ext cx="8608963" cy="119137"/>
          </a:xfrm>
          <a:prstGeom prst="rect">
            <a:avLst/>
          </a:prstGeom>
          <a:noFill/>
          <a:ln/>
        </p:spPr>
        <p:txBody>
          <a:bodyPr wrap="none" lIns="0" tIns="0" rIns="0" bIns="0" rtlCol="0" anchor="t"/>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Objectif :</a:t>
            </a:r>
            <a:pPr algn="l" indent="0" marL="0">
              <a:lnSpc>
                <a:spcPct val="109000"/>
              </a:lnSpc>
              <a:buNone/>
            </a:pPr>
            <a:r>
              <a:rPr lang="en-US" sz="700" dirty="0">
                <a:solidFill>
                  <a:srgbClr val="272525"/>
                </a:solidFill>
                <a:latin typeface="Inter" pitchFamily="34" charset="0"/>
                <a:ea typeface="Inter" pitchFamily="34" charset="-122"/>
                <a:cs typeface="Inter" pitchFamily="34" charset="-120"/>
              </a:rPr>
              <a:t> Mettre en place et valider la connexion « Continuer avec Google » sur Digital Icons - récupération automatique du nom et de l'avatar depuis le compte Google de l'utilisateur.</a:t>
            </a:r>
            <a:endParaRPr lang="en-US" sz="700" dirty="0"/>
          </a:p>
        </p:txBody>
      </p:sp>
      <p:sp>
        <p:nvSpPr>
          <p:cNvPr id="4" name="Text 2"/>
          <p:cNvSpPr/>
          <p:nvPr/>
        </p:nvSpPr>
        <p:spPr>
          <a:xfrm>
            <a:off x="496119" y="2180927"/>
            <a:ext cx="1592387"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Configuration</a:t>
            </a:r>
            <a:endParaRPr lang="en-US" sz="850" dirty="0"/>
          </a:p>
        </p:txBody>
      </p:sp>
      <p:sp>
        <p:nvSpPr>
          <p:cNvPr id="5" name="Text 3"/>
          <p:cNvSpPr/>
          <p:nvPr/>
        </p:nvSpPr>
        <p:spPr>
          <a:xfrm>
            <a:off x="496119" y="2346052"/>
            <a:ext cx="2356545"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Récupération des données Google</a:t>
            </a:r>
            <a:endParaRPr lang="en-US" sz="850" dirty="0"/>
          </a:p>
        </p:txBody>
      </p:sp>
      <p:sp>
        <p:nvSpPr>
          <p:cNvPr id="6" name="Text 4"/>
          <p:cNvSpPr/>
          <p:nvPr/>
        </p:nvSpPr>
        <p:spPr>
          <a:xfrm>
            <a:off x="496119" y="2546077"/>
            <a:ext cx="2709118" cy="616000"/>
          </a:xfrm>
          <a:prstGeom prst="rect">
            <a:avLst/>
          </a:prstGeom>
          <a:noFill/>
          <a:ln/>
        </p:spPr>
        <p:txBody>
          <a:bodyPr wrap="square" lIns="0" tIns="0" rIns="0" bIns="0" rtlCol="0" anchor="t">
            <a:normAutofit/>
          </a:bodyPr>
          <a:lstStyle/>
          <a:p>
            <a:pPr algn="l" marL="142240" indent="-142240">
              <a:lnSpc>
                <a:spcPct val="109000"/>
              </a:lnSpc>
              <a:buSzPct val="100000"/>
              <a:buChar char="•"/>
            </a:pPr>
            <a:r>
              <a:rPr lang="en-US" sz="700" b="1" dirty="0">
                <a:solidFill>
                  <a:srgbClr val="272525"/>
                </a:solidFill>
                <a:latin typeface="Inter Bold" pitchFamily="34" charset="0"/>
                <a:ea typeface="Inter Bold" pitchFamily="34" charset="-122"/>
                <a:cs typeface="Inter Bold" pitchFamily="34" charset="-120"/>
              </a:rPr>
              <a:t>Nom :</a:t>
            </a:r>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 extrait depuis </a:t>
            </a:r>
            <a:pPr algn="l" marL="142240" indent="-142240">
              <a:lnSpc>
                <a:spcPct val="109000"/>
              </a:lnSpc>
              <a:buSzPct val="100000"/>
              <a:buChar char="•"/>
            </a:pPr>
            <a:r>
              <a:rPr lang="en-US" sz="700" dirty="0">
                <a:solidFill>
                  <a:srgbClr val="272525"/>
                </a:solidFill>
                <a:highlight>
                  <a:srgbClr val="F2F2F2"/>
                </a:highlight>
                <a:latin typeface="Consolas" pitchFamily="34" charset="0"/>
                <a:ea typeface="Consolas" pitchFamily="34" charset="-122"/>
                <a:cs typeface="Consolas" pitchFamily="34" charset="-120"/>
              </a:rPr>
              <a:t>user_metadata.full_name</a:t>
            </a:r>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 ou </a:t>
            </a:r>
            <a:pPr algn="l" marL="142240" indent="-142240">
              <a:lnSpc>
                <a:spcPct val="109000"/>
              </a:lnSpc>
              <a:buSzPct val="100000"/>
              <a:buChar char="•"/>
            </a:pPr>
            <a:r>
              <a:rPr lang="en-US" sz="700" dirty="0">
                <a:solidFill>
                  <a:srgbClr val="272525"/>
                </a:solidFill>
                <a:highlight>
                  <a:srgbClr val="F2F2F2"/>
                </a:highlight>
                <a:latin typeface="Consolas" pitchFamily="34" charset="0"/>
                <a:ea typeface="Consolas" pitchFamily="34" charset="-122"/>
                <a:cs typeface="Consolas" pitchFamily="34" charset="-120"/>
              </a:rPr>
              <a:t>user_metadata.name</a:t>
            </a:r>
            <a:endParaRPr lang="en-US" sz="700" dirty="0"/>
          </a:p>
          <a:p>
            <a:pPr algn="l" marL="142240" indent="-142240">
              <a:lnSpc>
                <a:spcPct val="109000"/>
              </a:lnSpc>
              <a:buSzPct val="100000"/>
              <a:buChar char="•"/>
            </a:pPr>
            <a:r>
              <a:rPr lang="en-US" sz="700" b="1" dirty="0">
                <a:solidFill>
                  <a:srgbClr val="272525"/>
                </a:solidFill>
                <a:latin typeface="Inter Bold" pitchFamily="34" charset="0"/>
                <a:ea typeface="Inter Bold" pitchFamily="34" charset="-122"/>
                <a:cs typeface="Inter Bold" pitchFamily="34" charset="-120"/>
              </a:rPr>
              <a:t>Photo de profil :</a:t>
            </a:r>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 extraite depuis </a:t>
            </a:r>
            <a:pPr algn="l" marL="142240" indent="-142240">
              <a:lnSpc>
                <a:spcPct val="109000"/>
              </a:lnSpc>
              <a:buSzPct val="100000"/>
              <a:buChar char="•"/>
            </a:pPr>
            <a:r>
              <a:rPr lang="en-US" sz="700" dirty="0">
                <a:solidFill>
                  <a:srgbClr val="272525"/>
                </a:solidFill>
                <a:highlight>
                  <a:srgbClr val="F2F2F2"/>
                </a:highlight>
                <a:latin typeface="Consolas" pitchFamily="34" charset="0"/>
                <a:ea typeface="Consolas" pitchFamily="34" charset="-122"/>
                <a:cs typeface="Consolas" pitchFamily="34" charset="-120"/>
              </a:rPr>
              <a:t>user_metadata.avatar_url</a:t>
            </a:r>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 ou </a:t>
            </a:r>
            <a:pPr algn="l" marL="142240" indent="-142240">
              <a:lnSpc>
                <a:spcPct val="109000"/>
              </a:lnSpc>
              <a:buSzPct val="100000"/>
              <a:buChar char="•"/>
            </a:pPr>
            <a:r>
              <a:rPr lang="en-US" sz="700" dirty="0">
                <a:solidFill>
                  <a:srgbClr val="272525"/>
                </a:solidFill>
                <a:highlight>
                  <a:srgbClr val="F2F2F2"/>
                </a:highlight>
                <a:latin typeface="Consolas" pitchFamily="34" charset="0"/>
                <a:ea typeface="Consolas" pitchFamily="34" charset="-122"/>
                <a:cs typeface="Consolas" pitchFamily="34" charset="-120"/>
              </a:rPr>
              <a:t>user_metadata.picture</a:t>
            </a:r>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 stockée comme avatar du compte</a:t>
            </a:r>
            <a:endParaRPr lang="en-US" sz="700" dirty="0"/>
          </a:p>
        </p:txBody>
      </p:sp>
      <p:pic>
        <p:nvPicPr>
          <p:cNvPr id="7" name="Image 0" descr="preencoded.png">    </p:cNvPr>
          <p:cNvPicPr>
            <a:picLocks noChangeAspect="1"/>
          </p:cNvPicPr>
          <p:nvPr/>
        </p:nvPicPr>
        <p:blipFill>
          <a:blip r:embed="rId1"/>
          <a:stretch>
            <a:fillRect/>
          </a:stretch>
        </p:blipFill>
        <p:spPr>
          <a:xfrm>
            <a:off x="3431456" y="1058838"/>
            <a:ext cx="5221114" cy="2290242"/>
          </a:xfrm>
          <a:prstGeom prst="rect">
            <a:avLst/>
          </a:prstGeom>
        </p:spPr>
      </p:pic>
      <p:sp>
        <p:nvSpPr>
          <p:cNvPr id="8" name="Text 5"/>
          <p:cNvSpPr/>
          <p:nvPr/>
        </p:nvSpPr>
        <p:spPr>
          <a:xfrm>
            <a:off x="5013754" y="2635329"/>
            <a:ext cx="789094" cy="282576"/>
          </a:xfrm>
          <a:prstGeom prst="rect">
            <a:avLst/>
          </a:prstGeom>
          <a:noFill/>
          <a:ln/>
        </p:spPr>
        <p:txBody>
          <a:bodyPr wrap="square" lIns="0" tIns="0" rIns="0" bIns="0" rtlCol="0" anchor="t">
            <a:normAutofit/>
          </a:bodyPr>
          <a:lstStyle/>
          <a:p>
            <a:pPr algn="ctr"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Authentification</a:t>
            </a:r>
            <a:endParaRPr lang="en-US" sz="850" dirty="0"/>
          </a:p>
        </p:txBody>
      </p:sp>
      <p:sp>
        <p:nvSpPr>
          <p:cNvPr id="9" name="Text 6"/>
          <p:cNvSpPr/>
          <p:nvPr/>
        </p:nvSpPr>
        <p:spPr>
          <a:xfrm>
            <a:off x="5013754" y="2958094"/>
            <a:ext cx="789094" cy="185401"/>
          </a:xfrm>
          <a:prstGeom prst="rect">
            <a:avLst/>
          </a:prstGeom>
          <a:noFill/>
          <a:ln/>
        </p:spPr>
        <p:txBody>
          <a:bodyPr wrap="square" lIns="0" tIns="0" rIns="0" bIns="0" rtlCol="0" anchor="t">
            <a:normAutofit/>
          </a:bodyPr>
          <a:lstStyle/>
          <a:p>
            <a:pPr algn="ctr" indent="0" marL="0">
              <a:lnSpc>
                <a:spcPct val="85000"/>
              </a:lnSpc>
              <a:buNone/>
            </a:pPr>
            <a:r>
              <a:rPr lang="en-US" sz="700" dirty="0">
                <a:solidFill>
                  <a:srgbClr val="272525"/>
                </a:solidFill>
                <a:latin typeface="Inter" pitchFamily="34" charset="0"/>
                <a:ea typeface="Inter" pitchFamily="34" charset="-122"/>
                <a:cs typeface="Inter" pitchFamily="34" charset="-120"/>
              </a:rPr>
              <a:t>Utilisateur saisit ses identifiants</a:t>
            </a:r>
            <a:endParaRPr lang="en-US" sz="700" dirty="0"/>
          </a:p>
        </p:txBody>
      </p:sp>
      <p:sp>
        <p:nvSpPr>
          <p:cNvPr id="10" name="Text 7"/>
          <p:cNvSpPr/>
          <p:nvPr/>
        </p:nvSpPr>
        <p:spPr>
          <a:xfrm>
            <a:off x="7520518" y="2683916"/>
            <a:ext cx="789093" cy="141288"/>
          </a:xfrm>
          <a:prstGeom prst="rect">
            <a:avLst/>
          </a:prstGeom>
          <a:noFill/>
          <a:ln/>
        </p:spPr>
        <p:txBody>
          <a:bodyPr wrap="none" lIns="0" tIns="0" rIns="0" bIns="0" rtlCol="0" anchor="t"/>
          <a:lstStyle/>
          <a:p>
            <a:pPr algn="ctr"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Session</a:t>
            </a:r>
            <a:endParaRPr lang="en-US" sz="850" dirty="0"/>
          </a:p>
        </p:txBody>
      </p:sp>
      <p:sp>
        <p:nvSpPr>
          <p:cNvPr id="11" name="Text 8"/>
          <p:cNvSpPr/>
          <p:nvPr/>
        </p:nvSpPr>
        <p:spPr>
          <a:xfrm>
            <a:off x="7520518" y="2865393"/>
            <a:ext cx="789093" cy="278102"/>
          </a:xfrm>
          <a:prstGeom prst="rect">
            <a:avLst/>
          </a:prstGeom>
          <a:noFill/>
          <a:ln/>
        </p:spPr>
        <p:txBody>
          <a:bodyPr wrap="square" lIns="0" tIns="0" rIns="0" bIns="0" rtlCol="0" anchor="t">
            <a:normAutofit/>
          </a:bodyPr>
          <a:lstStyle/>
          <a:p>
            <a:pPr algn="ctr" indent="0" marL="0">
              <a:lnSpc>
                <a:spcPct val="85000"/>
              </a:lnSpc>
              <a:buNone/>
            </a:pPr>
            <a:r>
              <a:rPr lang="en-US" sz="700" dirty="0">
                <a:solidFill>
                  <a:srgbClr val="272525"/>
                </a:solidFill>
                <a:latin typeface="Inter" pitchFamily="34" charset="0"/>
                <a:ea typeface="Inter" pitchFamily="34" charset="-122"/>
                <a:cs typeface="Inter" pitchFamily="34" charset="-120"/>
              </a:rPr>
              <a:t>Session créée, nom et avatar récupérés</a:t>
            </a:r>
            <a:endParaRPr lang="en-US" sz="700" dirty="0"/>
          </a:p>
        </p:txBody>
      </p:sp>
      <p:sp>
        <p:nvSpPr>
          <p:cNvPr id="12" name="Text 9"/>
          <p:cNvSpPr/>
          <p:nvPr/>
        </p:nvSpPr>
        <p:spPr>
          <a:xfrm>
            <a:off x="3788003" y="1264678"/>
            <a:ext cx="789094" cy="141288"/>
          </a:xfrm>
          <a:prstGeom prst="rect">
            <a:avLst/>
          </a:prstGeom>
          <a:noFill/>
          <a:ln/>
        </p:spPr>
        <p:txBody>
          <a:bodyPr wrap="none" lIns="0" tIns="0" rIns="0" bIns="0" rtlCol="0" anchor="t"/>
          <a:lstStyle/>
          <a:p>
            <a:pPr algn="ctr"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Redirection</a:t>
            </a:r>
            <a:endParaRPr lang="en-US" sz="850" dirty="0"/>
          </a:p>
        </p:txBody>
      </p:sp>
      <p:sp>
        <p:nvSpPr>
          <p:cNvPr id="13" name="Text 10"/>
          <p:cNvSpPr/>
          <p:nvPr/>
        </p:nvSpPr>
        <p:spPr>
          <a:xfrm>
            <a:off x="3788003" y="1446155"/>
            <a:ext cx="789094" cy="185401"/>
          </a:xfrm>
          <a:prstGeom prst="rect">
            <a:avLst/>
          </a:prstGeom>
          <a:noFill/>
          <a:ln/>
        </p:spPr>
        <p:txBody>
          <a:bodyPr wrap="square" lIns="0" tIns="0" rIns="0" bIns="0" rtlCol="0" anchor="t">
            <a:normAutofit/>
          </a:bodyPr>
          <a:lstStyle/>
          <a:p>
            <a:pPr algn="ctr" indent="0" marL="0">
              <a:lnSpc>
                <a:spcPct val="85000"/>
              </a:lnSpc>
              <a:buNone/>
            </a:pPr>
            <a:r>
              <a:rPr lang="en-US" sz="700" dirty="0">
                <a:solidFill>
                  <a:srgbClr val="272525"/>
                </a:solidFill>
                <a:latin typeface="Inter" pitchFamily="34" charset="0"/>
                <a:ea typeface="Inter" pitchFamily="34" charset="-122"/>
                <a:cs typeface="Inter" pitchFamily="34" charset="-120"/>
              </a:rPr>
              <a:t>Vers l'écran de connexion Google</a:t>
            </a:r>
            <a:endParaRPr lang="en-US" sz="700" dirty="0"/>
          </a:p>
        </p:txBody>
      </p:sp>
      <p:sp>
        <p:nvSpPr>
          <p:cNvPr id="14" name="Text 11"/>
          <p:cNvSpPr/>
          <p:nvPr/>
        </p:nvSpPr>
        <p:spPr>
          <a:xfrm>
            <a:off x="6284719" y="1264678"/>
            <a:ext cx="789093" cy="141288"/>
          </a:xfrm>
          <a:prstGeom prst="rect">
            <a:avLst/>
          </a:prstGeom>
          <a:noFill/>
          <a:ln/>
        </p:spPr>
        <p:txBody>
          <a:bodyPr wrap="none" lIns="0" tIns="0" rIns="0" bIns="0" rtlCol="0" anchor="t"/>
          <a:lstStyle/>
          <a:p>
            <a:pPr algn="ctr"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Callback</a:t>
            </a:r>
            <a:endParaRPr lang="en-US" sz="850" dirty="0"/>
          </a:p>
        </p:txBody>
      </p:sp>
      <p:sp>
        <p:nvSpPr>
          <p:cNvPr id="15" name="Text 12"/>
          <p:cNvSpPr/>
          <p:nvPr/>
        </p:nvSpPr>
        <p:spPr>
          <a:xfrm>
            <a:off x="6284719" y="1446155"/>
            <a:ext cx="789093" cy="278102"/>
          </a:xfrm>
          <a:prstGeom prst="rect">
            <a:avLst/>
          </a:prstGeom>
          <a:noFill/>
          <a:ln/>
        </p:spPr>
        <p:txBody>
          <a:bodyPr wrap="square" lIns="0" tIns="0" rIns="0" bIns="0" rtlCol="0" anchor="t">
            <a:normAutofit/>
          </a:bodyPr>
          <a:lstStyle/>
          <a:p>
            <a:pPr algn="ctr" indent="0" marL="0">
              <a:lnSpc>
                <a:spcPct val="85000"/>
              </a:lnSpc>
              <a:buNone/>
            </a:pPr>
            <a:r>
              <a:rPr lang="en-US" sz="700" dirty="0">
                <a:solidFill>
                  <a:srgbClr val="272525"/>
                </a:solidFill>
                <a:latin typeface="Inter" pitchFamily="34" charset="0"/>
                <a:ea typeface="Inter" pitchFamily="34" charset="-122"/>
                <a:cs typeface="Inter" pitchFamily="34" charset="-120"/>
              </a:rPr>
              <a:t>Retour vers Supabase avec code</a:t>
            </a:r>
            <a:endParaRPr lang="en-US" sz="700" dirty="0"/>
          </a:p>
        </p:txBody>
      </p:sp>
      <p:sp>
        <p:nvSpPr>
          <p:cNvPr id="16" name="Text 13"/>
          <p:cNvSpPr/>
          <p:nvPr/>
        </p:nvSpPr>
        <p:spPr>
          <a:xfrm>
            <a:off x="3431456" y="3414489"/>
            <a:ext cx="1592387" cy="141908"/>
          </a:xfrm>
          <a:prstGeom prst="rect">
            <a:avLst/>
          </a:prstGeom>
          <a:noFill/>
          <a:ln/>
        </p:spPr>
        <p:txBody>
          <a:bodyPr wrap="none" lIns="0" tIns="0" rIns="0" bIns="0" rtlCol="0" anchor="t"/>
          <a:lstStyle/>
          <a:p>
            <a:pPr algn="l" indent="0" marL="0">
              <a:lnSpc>
                <a:spcPct val="104000"/>
              </a:lnSpc>
              <a:buNone/>
            </a:pPr>
            <a:r>
              <a:rPr lang="en-US" sz="850" b="1" dirty="0">
                <a:solidFill>
                  <a:srgbClr val="000000"/>
                </a:solidFill>
                <a:latin typeface="Inter Bold" pitchFamily="34" charset="0"/>
                <a:ea typeface="Inter Bold" pitchFamily="34" charset="-122"/>
                <a:cs typeface="Inter Bold" pitchFamily="34" charset="-120"/>
              </a:rPr>
              <a:t>Tests Fonctionnels</a:t>
            </a:r>
            <a:endParaRPr lang="en-US" sz="850" dirty="0"/>
          </a:p>
        </p:txBody>
      </p:sp>
      <p:sp>
        <p:nvSpPr>
          <p:cNvPr id="17" name="Text 14"/>
          <p:cNvSpPr/>
          <p:nvPr/>
        </p:nvSpPr>
        <p:spPr>
          <a:xfrm>
            <a:off x="3431456" y="3614514"/>
            <a:ext cx="5221114" cy="676945"/>
          </a:xfrm>
          <a:prstGeom prst="rect">
            <a:avLst/>
          </a:prstGeom>
          <a:noFill/>
          <a:ln/>
        </p:spPr>
        <p:txBody>
          <a:bodyPr wrap="square" lIns="0" tIns="0" rIns="0" bIns="0" rtlCol="0" anchor="t">
            <a:normAutofit/>
          </a:bodyPr>
          <a:lstStyle/>
          <a:p>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Vérification du flux complet OAuth (redirection → callback → session)</a:t>
            </a:r>
            <a:endParaRPr lang="en-US" sz="700" dirty="0"/>
          </a:p>
          <a:p>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Validation nom Google → pseudo utilisateur</a:t>
            </a:r>
            <a:endParaRPr lang="en-US" sz="700" dirty="0"/>
          </a:p>
          <a:p>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Validation photo de profil → avatar du compte</a:t>
            </a:r>
            <a:endParaRPr lang="en-US" sz="700" dirty="0"/>
          </a:p>
          <a:p>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Tests sur différents comptes (nouveau / existant)</a:t>
            </a:r>
            <a:endParaRPr lang="en-US" sz="700" dirty="0"/>
          </a:p>
          <a:p>
            <a:pPr algn="l" marL="142240" indent="-142240">
              <a:lnSpc>
                <a:spcPct val="109000"/>
              </a:lnSpc>
              <a:buSzPct val="100000"/>
              <a:buChar char="•"/>
            </a:pPr>
            <a:r>
              <a:rPr lang="en-US" sz="700" dirty="0">
                <a:solidFill>
                  <a:srgbClr val="272525"/>
                </a:solidFill>
                <a:latin typeface="Inter" pitchFamily="34" charset="0"/>
                <a:ea typeface="Inter" pitchFamily="34" charset="-122"/>
                <a:cs typeface="Inter" pitchFamily="34" charset="-120"/>
              </a:rPr>
              <a:t>Vérification de la persistance de session et des données profil en base</a:t>
            </a:r>
            <a:endParaRPr lang="en-US" sz="700" dirty="0"/>
          </a:p>
        </p:txBody>
      </p:sp>
      <p:pic>
        <p:nvPicPr>
          <p:cNvPr id="1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200" y="4381723"/>
            <a:ext cx="136178" cy="136178"/>
          </a:xfrm>
          <a:prstGeom prst="rect">
            <a:avLst/>
          </a:prstGeom>
        </p:spPr>
      </p:pic>
      <p:sp>
        <p:nvSpPr>
          <p:cNvPr id="19" name="Text 15"/>
          <p:cNvSpPr/>
          <p:nvPr/>
        </p:nvSpPr>
        <p:spPr>
          <a:xfrm>
            <a:off x="791245" y="4377184"/>
            <a:ext cx="2373660" cy="238274"/>
          </a:xfrm>
          <a:prstGeom prst="rect">
            <a:avLst/>
          </a:prstGeom>
          <a:noFill/>
          <a:ln/>
        </p:spPr>
        <p:txBody>
          <a:bodyPr wrap="square" lIns="0" tIns="0" rIns="0" bIns="0" rtlCol="0" anchor="t">
            <a:normAutofit/>
          </a:bodyPr>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Supabase :</a:t>
            </a:r>
            <a:pPr algn="l" indent="0" marL="0">
              <a:lnSpc>
                <a:spcPct val="109000"/>
              </a:lnSpc>
              <a:buNone/>
            </a:pPr>
            <a:r>
              <a:rPr lang="en-US" sz="700" dirty="0">
                <a:solidFill>
                  <a:srgbClr val="272525"/>
                </a:solidFill>
                <a:latin typeface="Inter" pitchFamily="34" charset="0"/>
                <a:ea typeface="Inter" pitchFamily="34" charset="-122"/>
                <a:cs typeface="Inter" pitchFamily="34" charset="-120"/>
              </a:rPr>
              <a:t> activation du provider Google OAuth dans les paramètres d'authentification</a:t>
            </a:r>
            <a:endParaRPr lang="en-US" sz="700" dirty="0"/>
          </a:p>
        </p:txBody>
      </p:sp>
      <p:pic>
        <p:nvPicPr>
          <p:cNvPr id="2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1689" y="4381723"/>
            <a:ext cx="136178" cy="136178"/>
          </a:xfrm>
          <a:prstGeom prst="rect">
            <a:avLst/>
          </a:prstGeom>
        </p:spPr>
      </p:pic>
      <p:sp>
        <p:nvSpPr>
          <p:cNvPr id="21" name="Text 16"/>
          <p:cNvSpPr/>
          <p:nvPr/>
        </p:nvSpPr>
        <p:spPr>
          <a:xfrm>
            <a:off x="3532733" y="4377184"/>
            <a:ext cx="2373660" cy="357411"/>
          </a:xfrm>
          <a:prstGeom prst="rect">
            <a:avLst/>
          </a:prstGeom>
          <a:noFill/>
          <a:ln/>
        </p:spPr>
        <p:txBody>
          <a:bodyPr wrap="square" lIns="0" tIns="0" rIns="0" bIns="0" rtlCol="0" anchor="t">
            <a:normAutofit/>
          </a:bodyPr>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Google Cloud Console :</a:t>
            </a:r>
            <a:pPr algn="l" indent="0" marL="0">
              <a:lnSpc>
                <a:spcPct val="109000"/>
              </a:lnSpc>
              <a:buNone/>
            </a:pPr>
            <a:r>
              <a:rPr lang="en-US" sz="700" dirty="0">
                <a:solidFill>
                  <a:srgbClr val="272525"/>
                </a:solidFill>
                <a:latin typeface="Inter" pitchFamily="34" charset="0"/>
                <a:ea typeface="Inter" pitchFamily="34" charset="-122"/>
                <a:cs typeface="Inter" pitchFamily="34" charset="-120"/>
              </a:rPr>
              <a:t> création des identifiants OAuth 2.0, configuration des origines et URI de redirection autorisées</a:t>
            </a:r>
            <a:endParaRPr lang="en-US" sz="700" dirty="0"/>
          </a:p>
        </p:txBody>
      </p:sp>
      <p:pic>
        <p:nvPicPr>
          <p:cNvPr id="2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13177" y="4381723"/>
            <a:ext cx="136178" cy="136178"/>
          </a:xfrm>
          <a:prstGeom prst="rect">
            <a:avLst/>
          </a:prstGeom>
        </p:spPr>
      </p:pic>
      <p:sp>
        <p:nvSpPr>
          <p:cNvPr id="23" name="Text 17"/>
          <p:cNvSpPr/>
          <p:nvPr/>
        </p:nvSpPr>
        <p:spPr>
          <a:xfrm>
            <a:off x="6274222" y="4377184"/>
            <a:ext cx="2373660" cy="238274"/>
          </a:xfrm>
          <a:prstGeom prst="rect">
            <a:avLst/>
          </a:prstGeom>
          <a:noFill/>
          <a:ln/>
        </p:spPr>
        <p:txBody>
          <a:bodyPr wrap="square" lIns="0" tIns="0" rIns="0" bIns="0" rtlCol="0" anchor="t">
            <a:normAutofit/>
          </a:bodyPr>
          <a:lstStyle/>
          <a:p>
            <a:pPr algn="l" indent="0" marL="0">
              <a:lnSpc>
                <a:spcPct val="109000"/>
              </a:lnSpc>
              <a:buNone/>
            </a:pPr>
            <a:r>
              <a:rPr lang="en-US" sz="700" b="1" dirty="0">
                <a:solidFill>
                  <a:srgbClr val="272525"/>
                </a:solidFill>
                <a:latin typeface="Inter Bold" pitchFamily="34" charset="0"/>
                <a:ea typeface="Inter Bold" pitchFamily="34" charset="-122"/>
                <a:cs typeface="Inter Bold" pitchFamily="34" charset="-120"/>
              </a:rPr>
              <a:t>Variables d'environnement :</a:t>
            </a:r>
            <a:pPr algn="l" indent="0" marL="0">
              <a:lnSpc>
                <a:spcPct val="109000"/>
              </a:lnSpc>
              <a:buNone/>
            </a:pPr>
            <a:r>
              <a:rPr lang="en-US" sz="700" dirty="0">
                <a:solidFill>
                  <a:srgbClr val="272525"/>
                </a:solidFill>
                <a:latin typeface="Inter" pitchFamily="34" charset="0"/>
                <a:ea typeface="Inter" pitchFamily="34" charset="-122"/>
                <a:cs typeface="Inter" pitchFamily="34" charset="-120"/>
              </a:rPr>
              <a:t> intégration des clés </a:t>
            </a:r>
            <a:pPr algn="l" indent="0" marL="0">
              <a:lnSpc>
                <a:spcPct val="10900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client_id</a:t>
            </a:r>
            <a:pPr algn="l" indent="0" marL="0">
              <a:lnSpc>
                <a:spcPct val="109000"/>
              </a:lnSpc>
              <a:buNone/>
            </a:pPr>
            <a:r>
              <a:rPr lang="en-US" sz="700" dirty="0">
                <a:solidFill>
                  <a:srgbClr val="272525"/>
                </a:solidFill>
                <a:latin typeface="Inter" pitchFamily="34" charset="0"/>
                <a:ea typeface="Inter" pitchFamily="34" charset="-122"/>
                <a:cs typeface="Inter" pitchFamily="34" charset="-120"/>
              </a:rPr>
              <a:t> et </a:t>
            </a:r>
            <a:pPr algn="l" indent="0" marL="0">
              <a:lnSpc>
                <a:spcPct val="10900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client_secret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12998"/>
            <a:ext cx="7838554" cy="387548"/>
          </a:xfrm>
          <a:prstGeom prst="rect">
            <a:avLst/>
          </a:prstGeom>
          <a:noFill/>
          <a:ln/>
        </p:spPr>
        <p:txBody>
          <a:bodyPr wrap="none" lIns="0" tIns="0" rIns="0" bIns="0" rtlCol="0" anchor="t"/>
          <a:lstStyle/>
          <a:p>
            <a:pPr algn="l" indent="0" marL="0">
              <a:lnSpc>
                <a:spcPct val="104000"/>
              </a:lnSpc>
              <a:buNone/>
            </a:pPr>
            <a:r>
              <a:rPr lang="en-US" sz="2400" b="1" dirty="0">
                <a:solidFill>
                  <a:srgbClr val="000000"/>
                </a:solidFill>
                <a:latin typeface="Inter Bold" pitchFamily="34" charset="0"/>
                <a:ea typeface="Inter Bold" pitchFamily="34" charset="-122"/>
                <a:cs typeface="Inter Bold" pitchFamily="34" charset="-120"/>
              </a:rPr>
              <a:t> Déploiement &amp; Mise en Production avec Dokploy</a:t>
            </a:r>
            <a:endParaRPr lang="en-US" sz="2400" dirty="0"/>
          </a:p>
        </p:txBody>
      </p:sp>
      <p:sp>
        <p:nvSpPr>
          <p:cNvPr id="3" name="Text 1"/>
          <p:cNvSpPr/>
          <p:nvPr/>
        </p:nvSpPr>
        <p:spPr>
          <a:xfrm>
            <a:off x="496119" y="1017612"/>
            <a:ext cx="8151763" cy="372070"/>
          </a:xfrm>
          <a:prstGeom prst="rect">
            <a:avLst/>
          </a:prstGeom>
          <a:noFill/>
          <a:ln/>
        </p:spPr>
        <p:txBody>
          <a:bodyPr wrap="square" lIns="0" tIns="0" rIns="0" bIns="0" rtlCol="0" anchor="t">
            <a:normAutofit/>
          </a:bodyPr>
          <a:lstStyle/>
          <a:p>
            <a:pPr algn="l" indent="0" marL="0">
              <a:lnSpc>
                <a:spcPct val="125000"/>
              </a:lnSpc>
              <a:buNone/>
            </a:pPr>
            <a:r>
              <a:rPr lang="en-US" sz="950" b="1" dirty="0">
                <a:solidFill>
                  <a:srgbClr val="272525"/>
                </a:solidFill>
                <a:latin typeface="Inter Bold" pitchFamily="34" charset="0"/>
                <a:ea typeface="Inter Bold" pitchFamily="34" charset="-122"/>
                <a:cs typeface="Inter Bold" pitchFamily="34" charset="-120"/>
              </a:rPr>
              <a:t>Dokploy</a:t>
            </a:r>
            <a:pPr algn="l" indent="0" marL="0">
              <a:lnSpc>
                <a:spcPct val="125000"/>
              </a:lnSpc>
              <a:buNone/>
            </a:pPr>
            <a:r>
              <a:rPr lang="en-US" sz="950" dirty="0">
                <a:solidFill>
                  <a:srgbClr val="272525"/>
                </a:solidFill>
                <a:latin typeface="Inter" pitchFamily="34" charset="0"/>
                <a:ea typeface="Inter" pitchFamily="34" charset="-122"/>
                <a:cs typeface="Inter" pitchFamily="34" charset="-120"/>
              </a:rPr>
              <a:t> est une plateforme PaaS open source self-hosted qui simplifie le déploiement et la gestion d'applications conteneurisées sur serveur dédié.</a:t>
            </a:r>
            <a:endParaRPr lang="en-US" sz="950" dirty="0"/>
          </a:p>
        </p:txBody>
      </p:sp>
      <p:sp>
        <p:nvSpPr>
          <p:cNvPr id="4" name="Shape 2"/>
          <p:cNvSpPr/>
          <p:nvPr/>
        </p:nvSpPr>
        <p:spPr>
          <a:xfrm>
            <a:off x="496119" y="1511722"/>
            <a:ext cx="4021634" cy="1555105"/>
          </a:xfrm>
          <a:prstGeom prst="roundRect">
            <a:avLst>
              <a:gd name="adj" fmla="val 3350"/>
            </a:avLst>
          </a:prstGeom>
          <a:solidFill>
            <a:srgbClr val="DADBF1"/>
          </a:solidFill>
          <a:ln w="4763">
            <a:solidFill>
              <a:srgbClr val="C0C1D7"/>
            </a:solidFill>
            <a:prstDash val="solid"/>
          </a:ln>
        </p:spPr>
      </p:sp>
      <p:sp>
        <p:nvSpPr>
          <p:cNvPr id="5" name="Shape 3"/>
          <p:cNvSpPr/>
          <p:nvPr/>
        </p:nvSpPr>
        <p:spPr>
          <a:xfrm>
            <a:off x="624855" y="1640458"/>
            <a:ext cx="372070" cy="372070"/>
          </a:xfrm>
          <a:prstGeom prst="roundRect">
            <a:avLst>
              <a:gd name="adj" fmla="val 15358477"/>
            </a:avLst>
          </a:prstGeom>
          <a:solidFill>
            <a:srgbClr val="4950BC"/>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1742703"/>
            <a:ext cx="167432" cy="167432"/>
          </a:xfrm>
          <a:prstGeom prst="rect">
            <a:avLst/>
          </a:prstGeom>
        </p:spPr>
      </p:pic>
      <p:sp>
        <p:nvSpPr>
          <p:cNvPr id="7" name="Text 4"/>
          <p:cNvSpPr/>
          <p:nvPr/>
        </p:nvSpPr>
        <p:spPr>
          <a:xfrm>
            <a:off x="624855" y="2121024"/>
            <a:ext cx="1869132" cy="193849"/>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Déploiement Automatisé</a:t>
            </a:r>
            <a:endParaRPr lang="en-US" sz="1200" dirty="0"/>
          </a:p>
        </p:txBody>
      </p:sp>
      <p:sp>
        <p:nvSpPr>
          <p:cNvPr id="8" name="Text 5"/>
          <p:cNvSpPr/>
          <p:nvPr/>
        </p:nvSpPr>
        <p:spPr>
          <a:xfrm>
            <a:off x="624855" y="2379985"/>
            <a:ext cx="3764161" cy="558105"/>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Conteneurisation Docker &amp; Docker Compose · Push GitHub → build → production · Reverse proxy &amp; SSL/TLS via Traefik · Zéro vendor lock-in</a:t>
            </a:r>
            <a:endParaRPr lang="en-US" sz="950" dirty="0"/>
          </a:p>
        </p:txBody>
      </p:sp>
      <p:sp>
        <p:nvSpPr>
          <p:cNvPr id="9" name="Shape 6"/>
          <p:cNvSpPr/>
          <p:nvPr/>
        </p:nvSpPr>
        <p:spPr>
          <a:xfrm>
            <a:off x="4626248" y="1511722"/>
            <a:ext cx="4021634" cy="1555105"/>
          </a:xfrm>
          <a:prstGeom prst="roundRect">
            <a:avLst>
              <a:gd name="adj" fmla="val 3350"/>
            </a:avLst>
          </a:prstGeom>
          <a:solidFill>
            <a:srgbClr val="DADBF1"/>
          </a:solidFill>
          <a:ln w="4763">
            <a:solidFill>
              <a:srgbClr val="C0C1D7"/>
            </a:solidFill>
            <a:prstDash val="solid"/>
          </a:ln>
        </p:spPr>
      </p:sp>
      <p:sp>
        <p:nvSpPr>
          <p:cNvPr id="10" name="Shape 7"/>
          <p:cNvSpPr/>
          <p:nvPr/>
        </p:nvSpPr>
        <p:spPr>
          <a:xfrm>
            <a:off x="4754984" y="1640458"/>
            <a:ext cx="372070" cy="372070"/>
          </a:xfrm>
          <a:prstGeom prst="roundRect">
            <a:avLst>
              <a:gd name="adj" fmla="val 15358477"/>
            </a:avLst>
          </a:prstGeom>
          <a:solidFill>
            <a:srgbClr val="4950BC"/>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57304" y="1742703"/>
            <a:ext cx="167432" cy="167432"/>
          </a:xfrm>
          <a:prstGeom prst="rect">
            <a:avLst/>
          </a:prstGeom>
        </p:spPr>
      </p:pic>
      <p:sp>
        <p:nvSpPr>
          <p:cNvPr id="12" name="Text 8"/>
          <p:cNvSpPr/>
          <p:nvPr/>
        </p:nvSpPr>
        <p:spPr>
          <a:xfrm>
            <a:off x="4754984" y="2121024"/>
            <a:ext cx="1948160" cy="193849"/>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Surveillance &amp; Monitoring</a:t>
            </a:r>
            <a:endParaRPr lang="en-US" sz="1200" dirty="0"/>
          </a:p>
        </p:txBody>
      </p:sp>
      <p:sp>
        <p:nvSpPr>
          <p:cNvPr id="13" name="Text 9"/>
          <p:cNvSpPr/>
          <p:nvPr/>
        </p:nvSpPr>
        <p:spPr>
          <a:xfrm>
            <a:off x="4754984" y="2379985"/>
            <a:ext cx="3764161"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Monitoring temps réel : CPU, mémoire, réseau · Logs applicatifs en direct · Alertes et supervision des conteneurs en production</a:t>
            </a:r>
            <a:endParaRPr lang="en-US" sz="950" dirty="0"/>
          </a:p>
        </p:txBody>
      </p:sp>
      <p:sp>
        <p:nvSpPr>
          <p:cNvPr id="14" name="Shape 10"/>
          <p:cNvSpPr/>
          <p:nvPr/>
        </p:nvSpPr>
        <p:spPr>
          <a:xfrm>
            <a:off x="496119" y="3175322"/>
            <a:ext cx="4021634" cy="1555105"/>
          </a:xfrm>
          <a:prstGeom prst="roundRect">
            <a:avLst>
              <a:gd name="adj" fmla="val 3350"/>
            </a:avLst>
          </a:prstGeom>
          <a:solidFill>
            <a:srgbClr val="DADBF1"/>
          </a:solidFill>
          <a:ln w="4763">
            <a:solidFill>
              <a:srgbClr val="C0C1D7"/>
            </a:solidFill>
            <a:prstDash val="solid"/>
          </a:ln>
        </p:spPr>
      </p:sp>
      <p:sp>
        <p:nvSpPr>
          <p:cNvPr id="15" name="Shape 11"/>
          <p:cNvSpPr/>
          <p:nvPr/>
        </p:nvSpPr>
        <p:spPr>
          <a:xfrm>
            <a:off x="624855" y="3304059"/>
            <a:ext cx="372070" cy="372070"/>
          </a:xfrm>
          <a:prstGeom prst="roundRect">
            <a:avLst>
              <a:gd name="adj" fmla="val 15358477"/>
            </a:avLst>
          </a:prstGeom>
          <a:solidFill>
            <a:srgbClr val="4950BC"/>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174" y="3406304"/>
            <a:ext cx="167432" cy="167432"/>
          </a:xfrm>
          <a:prstGeom prst="rect">
            <a:avLst/>
          </a:prstGeom>
        </p:spPr>
      </p:pic>
      <p:sp>
        <p:nvSpPr>
          <p:cNvPr id="17" name="Text 12"/>
          <p:cNvSpPr/>
          <p:nvPr/>
        </p:nvSpPr>
        <p:spPr>
          <a:xfrm>
            <a:off x="624855" y="3784625"/>
            <a:ext cx="1891680" cy="193849"/>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Sécurité de l'Exploitation</a:t>
            </a:r>
            <a:endParaRPr lang="en-US" sz="1200" dirty="0"/>
          </a:p>
        </p:txBody>
      </p:sp>
      <p:sp>
        <p:nvSpPr>
          <p:cNvPr id="18" name="Text 13"/>
          <p:cNvSpPr/>
          <p:nvPr/>
        </p:nvSpPr>
        <p:spPr>
          <a:xfrm>
            <a:off x="624855" y="4043586"/>
            <a:ext cx="3764161" cy="558105"/>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Variables d'environnement &amp; secrets isolés du code · Contrôle d'accès Dokploy avec rôles · Sauvegardes PostgreSQL configurées</a:t>
            </a:r>
            <a:endParaRPr lang="en-US" sz="950" dirty="0"/>
          </a:p>
        </p:txBody>
      </p:sp>
      <p:sp>
        <p:nvSpPr>
          <p:cNvPr id="19" name="Shape 14"/>
          <p:cNvSpPr/>
          <p:nvPr/>
        </p:nvSpPr>
        <p:spPr>
          <a:xfrm>
            <a:off x="4626248" y="3175322"/>
            <a:ext cx="4021634" cy="1555105"/>
          </a:xfrm>
          <a:prstGeom prst="roundRect">
            <a:avLst>
              <a:gd name="adj" fmla="val 3350"/>
            </a:avLst>
          </a:prstGeom>
          <a:solidFill>
            <a:srgbClr val="DADBF1"/>
          </a:solidFill>
          <a:ln w="4763">
            <a:solidFill>
              <a:srgbClr val="C0C1D7"/>
            </a:solidFill>
            <a:prstDash val="solid"/>
          </a:ln>
        </p:spPr>
      </p:sp>
      <p:sp>
        <p:nvSpPr>
          <p:cNvPr id="20" name="Shape 15"/>
          <p:cNvSpPr/>
          <p:nvPr/>
        </p:nvSpPr>
        <p:spPr>
          <a:xfrm>
            <a:off x="4754984" y="3304059"/>
            <a:ext cx="372070" cy="372070"/>
          </a:xfrm>
          <a:prstGeom prst="roundRect">
            <a:avLst>
              <a:gd name="adj" fmla="val 15358477"/>
            </a:avLst>
          </a:prstGeom>
          <a:solidFill>
            <a:srgbClr val="4950BC"/>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57304" y="3406304"/>
            <a:ext cx="167432" cy="167432"/>
          </a:xfrm>
          <a:prstGeom prst="rect">
            <a:avLst/>
          </a:prstGeom>
        </p:spPr>
      </p:pic>
      <p:sp>
        <p:nvSpPr>
          <p:cNvPr id="22" name="Text 16"/>
          <p:cNvSpPr/>
          <p:nvPr/>
        </p:nvSpPr>
        <p:spPr>
          <a:xfrm>
            <a:off x="4754984" y="3784625"/>
            <a:ext cx="2670423" cy="193849"/>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Documentation &amp; Bonnes Pratiques</a:t>
            </a:r>
            <a:endParaRPr lang="en-US" sz="1200" dirty="0"/>
          </a:p>
        </p:txBody>
      </p:sp>
      <p:sp>
        <p:nvSpPr>
          <p:cNvPr id="23" name="Text 17"/>
          <p:cNvSpPr/>
          <p:nvPr/>
        </p:nvSpPr>
        <p:spPr>
          <a:xfrm>
            <a:off x="4754984" y="4043586"/>
            <a:ext cx="3764161" cy="558105"/>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72525"/>
                </a:solidFill>
                <a:latin typeface="Inter" pitchFamily="34" charset="0"/>
                <a:ea typeface="Inter" pitchFamily="34" charset="-122"/>
                <a:cs typeface="Inter" pitchFamily="34" charset="-120"/>
              </a:rPr>
              <a:t>README de déploiement · .env.example versionné Git · Migrations SQL versionnées et réversibles pour la reproductibilité</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411435"/>
            <a:ext cx="2309887" cy="239018"/>
          </a:xfrm>
          <a:prstGeom prst="roundRect">
            <a:avLst>
              <a:gd name="adj" fmla="val 18372"/>
            </a:avLst>
          </a:prstGeom>
          <a:solidFill>
            <a:srgbClr val="DADBF1"/>
          </a:solidFill>
          <a:ln/>
        </p:spPr>
      </p:sp>
      <p:sp>
        <p:nvSpPr>
          <p:cNvPr id="3" name="Text 1"/>
          <p:cNvSpPr/>
          <p:nvPr/>
        </p:nvSpPr>
        <p:spPr>
          <a:xfrm>
            <a:off x="574477" y="450577"/>
            <a:ext cx="2610371" cy="160734"/>
          </a:xfrm>
          <a:prstGeom prst="rect">
            <a:avLst/>
          </a:prstGeom>
          <a:noFill/>
          <a:ln/>
        </p:spPr>
        <p:txBody>
          <a:bodyPr wrap="none" lIns="0" tIns="0" rIns="0" bIns="0" rtlCol="0" anchor="t"/>
          <a:lstStyle/>
          <a:p>
            <a:pPr algn="l" indent="0" marL="0">
              <a:lnSpc>
                <a:spcPct val="128000"/>
              </a:lnSpc>
              <a:buNone/>
            </a:pPr>
            <a:r>
              <a:rPr lang="en-US" sz="800" dirty="0">
                <a:solidFill>
                  <a:srgbClr val="272525"/>
                </a:solidFill>
                <a:latin typeface="Inter" pitchFamily="34" charset="0"/>
                <a:ea typeface="Inter" pitchFamily="34" charset="-122"/>
                <a:cs typeface="Inter" pitchFamily="34" charset="-120"/>
              </a:rPr>
              <a:t>03 · GESTION DE PROJET — AGILE SCRUM</a:t>
            </a:r>
            <a:endParaRPr lang="en-US" sz="800" dirty="0"/>
          </a:p>
        </p:txBody>
      </p:sp>
      <p:sp>
        <p:nvSpPr>
          <p:cNvPr id="4" name="Text 2"/>
          <p:cNvSpPr/>
          <p:nvPr/>
        </p:nvSpPr>
        <p:spPr>
          <a:xfrm>
            <a:off x="496119" y="698599"/>
            <a:ext cx="5600849" cy="408384"/>
          </a:xfrm>
          <a:prstGeom prst="rect">
            <a:avLst/>
          </a:prstGeom>
          <a:noFill/>
          <a:ln/>
        </p:spPr>
        <p:txBody>
          <a:bodyPr wrap="none" lIns="0" tIns="0" rIns="0" bIns="0" rtlCol="0" anchor="t"/>
          <a:lstStyle/>
          <a:p>
            <a:pPr algn="l" indent="0" marL="0">
              <a:lnSpc>
                <a:spcPct val="104000"/>
              </a:lnSpc>
              <a:buNone/>
            </a:pPr>
            <a:r>
              <a:rPr lang="en-US" sz="2550" b="1" dirty="0">
                <a:solidFill>
                  <a:srgbClr val="000000"/>
                </a:solidFill>
                <a:latin typeface="Inter Bold" pitchFamily="34" charset="0"/>
                <a:ea typeface="Inter Bold" pitchFamily="34" charset="-122"/>
                <a:cs typeface="Inter Bold" pitchFamily="34" charset="-120"/>
              </a:rPr>
              <a:t>Gestion de Projet — Agile Scrum</a:t>
            </a:r>
            <a:endParaRPr lang="en-US" sz="2550" dirty="0"/>
          </a:p>
        </p:txBody>
      </p:sp>
      <p:sp>
        <p:nvSpPr>
          <p:cNvPr id="5" name="Text 3"/>
          <p:cNvSpPr/>
          <p:nvPr/>
        </p:nvSpPr>
        <p:spPr>
          <a:xfrm>
            <a:off x="496119" y="1408137"/>
            <a:ext cx="2090812" cy="204118"/>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Inter Bold" pitchFamily="34" charset="0"/>
                <a:ea typeface="Inter Bold" pitchFamily="34" charset="-122"/>
                <a:cs typeface="Inter Bold" pitchFamily="34" charset="-120"/>
              </a:rPr>
              <a:t> </a:t>
            </a:r>
            <a:endParaRPr lang="en-US" sz="12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747763"/>
            <a:ext cx="1898005" cy="892448"/>
          </a:xfrm>
          <a:prstGeom prst="rect">
            <a:avLst/>
          </a:prstGeom>
        </p:spPr>
      </p:pic>
      <p:sp>
        <p:nvSpPr>
          <p:cNvPr id="7" name="Text 4"/>
          <p:cNvSpPr/>
          <p:nvPr/>
        </p:nvSpPr>
        <p:spPr>
          <a:xfrm>
            <a:off x="698227" y="1892722"/>
            <a:ext cx="1550938" cy="602531"/>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Découpage en </a:t>
            </a:r>
            <a:pPr algn="l" indent="0" marL="0">
              <a:lnSpc>
                <a:spcPct val="128000"/>
              </a:lnSpc>
              <a:buNone/>
            </a:pPr>
            <a:r>
              <a:rPr lang="en-US" sz="1000" b="1" dirty="0">
                <a:solidFill>
                  <a:srgbClr val="272525"/>
                </a:solidFill>
                <a:latin typeface="Inter Bold" pitchFamily="34" charset="0"/>
                <a:ea typeface="Inter Bold" pitchFamily="34" charset="-122"/>
                <a:cs typeface="Inter Bold" pitchFamily="34" charset="-120"/>
              </a:rPr>
              <a:t>user stories</a:t>
            </a:r>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 priorisées par valeur métier</a:t>
            </a:r>
            <a:endParaRPr lang="en-US" sz="10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4600" y="1747763"/>
            <a:ext cx="1898005" cy="892448"/>
          </a:xfrm>
          <a:prstGeom prst="rect">
            <a:avLst/>
          </a:prstGeom>
        </p:spPr>
      </p:pic>
      <p:sp>
        <p:nvSpPr>
          <p:cNvPr id="9" name="Text 5"/>
          <p:cNvSpPr/>
          <p:nvPr/>
        </p:nvSpPr>
        <p:spPr>
          <a:xfrm>
            <a:off x="2716709" y="1892722"/>
            <a:ext cx="1550938"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Adaptation continue selon les retours tuteurs</a:t>
            </a:r>
            <a:endParaRPr lang="en-US" sz="10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760687"/>
            <a:ext cx="1898005" cy="1093291"/>
          </a:xfrm>
          <a:prstGeom prst="rect">
            <a:avLst/>
          </a:prstGeom>
        </p:spPr>
      </p:pic>
      <p:sp>
        <p:nvSpPr>
          <p:cNvPr id="11" name="Text 6"/>
          <p:cNvSpPr/>
          <p:nvPr/>
        </p:nvSpPr>
        <p:spPr>
          <a:xfrm>
            <a:off x="698227" y="2905646"/>
            <a:ext cx="1550938" cy="602531"/>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Point quotidien avec les tuteurs, code review avant merge</a:t>
            </a:r>
            <a:endParaRPr lang="en-US" sz="10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14600" y="2760687"/>
            <a:ext cx="1898005" cy="1093291"/>
          </a:xfrm>
          <a:prstGeom prst="rect">
            <a:avLst/>
          </a:prstGeom>
        </p:spPr>
      </p:pic>
      <p:sp>
        <p:nvSpPr>
          <p:cNvPr id="13" name="Text 7"/>
          <p:cNvSpPr/>
          <p:nvPr/>
        </p:nvSpPr>
        <p:spPr>
          <a:xfrm>
            <a:off x="2716709" y="2905646"/>
            <a:ext cx="1550938" cy="803374"/>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Documentation technique (README, commentaires, comptes-rendus)</a:t>
            </a:r>
            <a:endParaRPr lang="en-US" sz="1000" dirty="0"/>
          </a:p>
        </p:txBody>
      </p:sp>
      <p:sp>
        <p:nvSpPr>
          <p:cNvPr id="14" name="Text 8"/>
          <p:cNvSpPr/>
          <p:nvPr/>
        </p:nvSpPr>
        <p:spPr>
          <a:xfrm>
            <a:off x="4736157" y="1408137"/>
            <a:ext cx="2090812" cy="204118"/>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Inter Bold" pitchFamily="34" charset="0"/>
                <a:ea typeface="Inter Bold" pitchFamily="34" charset="-122"/>
                <a:cs typeface="Inter Bold" pitchFamily="34" charset="-120"/>
              </a:rPr>
              <a:t>Outils</a:t>
            </a:r>
            <a:endParaRPr lang="en-US" sz="12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6157" y="1747763"/>
            <a:ext cx="326678" cy="326678"/>
          </a:xfrm>
          <a:prstGeom prst="rect">
            <a:avLst/>
          </a:prstGeom>
        </p:spPr>
      </p:pic>
      <p:sp>
        <p:nvSpPr>
          <p:cNvPr id="16" name="Text 9"/>
          <p:cNvSpPr/>
          <p:nvPr/>
        </p:nvSpPr>
        <p:spPr>
          <a:xfrm>
            <a:off x="4736157" y="2224980"/>
            <a:ext cx="1633612"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Trello</a:t>
            </a:r>
            <a:endParaRPr lang="en-US" sz="1250" dirty="0"/>
          </a:p>
        </p:txBody>
      </p:sp>
      <p:sp>
        <p:nvSpPr>
          <p:cNvPr id="17" name="Text 10"/>
          <p:cNvSpPr/>
          <p:nvPr/>
        </p:nvSpPr>
        <p:spPr>
          <a:xfrm>
            <a:off x="4736157" y="2549575"/>
            <a:ext cx="1882973"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Backlog · En cours · Tests · Bloqué · Terminé</a:t>
            </a:r>
            <a:endParaRPr lang="en-US" sz="10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69671" y="1747763"/>
            <a:ext cx="326678" cy="326678"/>
          </a:xfrm>
          <a:prstGeom prst="rect">
            <a:avLst/>
          </a:prstGeom>
        </p:spPr>
      </p:pic>
      <p:sp>
        <p:nvSpPr>
          <p:cNvPr id="19" name="Text 11"/>
          <p:cNvSpPr/>
          <p:nvPr/>
        </p:nvSpPr>
        <p:spPr>
          <a:xfrm>
            <a:off x="6769671" y="2224980"/>
            <a:ext cx="1633612"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GitHub</a:t>
            </a:r>
            <a:endParaRPr lang="en-US" sz="1250" dirty="0"/>
          </a:p>
        </p:txBody>
      </p:sp>
      <p:sp>
        <p:nvSpPr>
          <p:cNvPr id="20" name="Text 12"/>
          <p:cNvSpPr/>
          <p:nvPr/>
        </p:nvSpPr>
        <p:spPr>
          <a:xfrm>
            <a:off x="6769671" y="2549575"/>
            <a:ext cx="1882973" cy="602531"/>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Versioning, branches </a:t>
            </a:r>
            <a:pPr algn="l" indent="0" marL="0">
              <a:lnSpc>
                <a:spcPct val="128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feature/*</a:t>
            </a:r>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 pull requests, code review</a:t>
            </a:r>
            <a:endParaRPr lang="en-US" sz="1000" dirty="0"/>
          </a:p>
        </p:txBody>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36157" y="3393058"/>
            <a:ext cx="326678" cy="326678"/>
          </a:xfrm>
          <a:prstGeom prst="rect">
            <a:avLst/>
          </a:prstGeom>
        </p:spPr>
      </p:pic>
      <p:sp>
        <p:nvSpPr>
          <p:cNvPr id="22" name="Text 13"/>
          <p:cNvSpPr/>
          <p:nvPr/>
        </p:nvSpPr>
        <p:spPr>
          <a:xfrm>
            <a:off x="4736157" y="3870275"/>
            <a:ext cx="1633612"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Discord</a:t>
            </a:r>
            <a:endParaRPr lang="en-US" sz="1250" dirty="0"/>
          </a:p>
        </p:txBody>
      </p:sp>
      <p:sp>
        <p:nvSpPr>
          <p:cNvPr id="23" name="Text 14"/>
          <p:cNvSpPr/>
          <p:nvPr/>
        </p:nvSpPr>
        <p:spPr>
          <a:xfrm>
            <a:off x="4736157" y="4194870"/>
            <a:ext cx="1882973"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Points d'équipe tous les 2 jours</a:t>
            </a:r>
            <a:endParaRPr lang="en-US" sz="1000" dirty="0"/>
          </a:p>
        </p:txBody>
      </p:sp>
      <p:pic>
        <p:nvPicPr>
          <p:cNvPr id="2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769671" y="3393058"/>
            <a:ext cx="326678" cy="326678"/>
          </a:xfrm>
          <a:prstGeom prst="rect">
            <a:avLst/>
          </a:prstGeom>
        </p:spPr>
      </p:pic>
      <p:sp>
        <p:nvSpPr>
          <p:cNvPr id="25" name="Text 15"/>
          <p:cNvSpPr/>
          <p:nvPr/>
        </p:nvSpPr>
        <p:spPr>
          <a:xfrm>
            <a:off x="6769671" y="3870275"/>
            <a:ext cx="1633612"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Supabase</a:t>
            </a:r>
            <a:endParaRPr lang="en-US" sz="1250" dirty="0"/>
          </a:p>
        </p:txBody>
      </p:sp>
      <p:sp>
        <p:nvSpPr>
          <p:cNvPr id="26" name="Text 16"/>
          <p:cNvSpPr/>
          <p:nvPr/>
        </p:nvSpPr>
        <p:spPr>
          <a:xfrm>
            <a:off x="6769671" y="4194870"/>
            <a:ext cx="1882973"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Collaboration BDD partagée en temps réel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27137"/>
            <a:ext cx="1175817" cy="197644"/>
          </a:xfrm>
          <a:prstGeom prst="roundRect">
            <a:avLst>
              <a:gd name="adj" fmla="val 19205"/>
            </a:avLst>
          </a:prstGeom>
          <a:solidFill>
            <a:srgbClr val="DADBF1"/>
          </a:solidFill>
          <a:ln/>
        </p:spPr>
      </p:sp>
      <p:sp>
        <p:nvSpPr>
          <p:cNvPr id="3" name="Text 1"/>
          <p:cNvSpPr/>
          <p:nvPr/>
        </p:nvSpPr>
        <p:spPr>
          <a:xfrm>
            <a:off x="563835" y="460995"/>
            <a:ext cx="1497583" cy="129927"/>
          </a:xfrm>
          <a:prstGeom prst="rect">
            <a:avLst/>
          </a:prstGeom>
          <a:noFill/>
          <a:ln/>
        </p:spPr>
        <p:txBody>
          <a:bodyPr wrap="none" lIns="0" tIns="0" rIns="0" bIns="0" rtlCol="0" anchor="t"/>
          <a:lstStyle/>
          <a:p>
            <a:pPr algn="l" indent="0" marL="0">
              <a:lnSpc>
                <a:spcPct val="120000"/>
              </a:lnSpc>
              <a:buNone/>
            </a:pPr>
            <a:r>
              <a:rPr lang="en-US" sz="700" dirty="0">
                <a:solidFill>
                  <a:srgbClr val="272525"/>
                </a:solidFill>
                <a:latin typeface="Inter" pitchFamily="34" charset="0"/>
                <a:ea typeface="Inter" pitchFamily="34" charset="-122"/>
                <a:cs typeface="Inter" pitchFamily="34" charset="-120"/>
              </a:rPr>
              <a:t>04 · STACK TECHNIQUE</a:t>
            </a:r>
            <a:endParaRPr lang="en-US" sz="700" dirty="0"/>
          </a:p>
        </p:txBody>
      </p:sp>
      <p:sp>
        <p:nvSpPr>
          <p:cNvPr id="4" name="Text 2"/>
          <p:cNvSpPr/>
          <p:nvPr/>
        </p:nvSpPr>
        <p:spPr>
          <a:xfrm>
            <a:off x="496119" y="660722"/>
            <a:ext cx="3281437" cy="352946"/>
          </a:xfrm>
          <a:prstGeom prst="rect">
            <a:avLst/>
          </a:prstGeom>
          <a:noFill/>
          <a:ln/>
        </p:spPr>
        <p:txBody>
          <a:bodyPr wrap="none" lIns="0" tIns="0" rIns="0" bIns="0" rtlCol="0" anchor="t"/>
          <a:lstStyle/>
          <a:p>
            <a:pPr algn="l"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Stack Technique</a:t>
            </a:r>
            <a:endParaRPr lang="en-US" sz="2200" dirty="0"/>
          </a:p>
        </p:txBody>
      </p:sp>
      <p:sp>
        <p:nvSpPr>
          <p:cNvPr id="5" name="Shape 3"/>
          <p:cNvSpPr/>
          <p:nvPr/>
        </p:nvSpPr>
        <p:spPr>
          <a:xfrm>
            <a:off x="496119" y="1148655"/>
            <a:ext cx="4030861" cy="1057126"/>
          </a:xfrm>
          <a:prstGeom prst="roundRect">
            <a:avLst>
              <a:gd name="adj" fmla="val 4488"/>
            </a:avLst>
          </a:prstGeom>
          <a:solidFill>
            <a:srgbClr val="DADBF1"/>
          </a:solidFill>
          <a:ln w="4763">
            <a:solidFill>
              <a:srgbClr val="C0C1D7"/>
            </a:solidFill>
            <a:prstDash val="solid"/>
          </a:ln>
        </p:spPr>
      </p:sp>
      <p:sp>
        <p:nvSpPr>
          <p:cNvPr id="6" name="Shape 4"/>
          <p:cNvSpPr/>
          <p:nvPr/>
        </p:nvSpPr>
        <p:spPr>
          <a:xfrm>
            <a:off x="613842" y="1266379"/>
            <a:ext cx="338882" cy="338882"/>
          </a:xfrm>
          <a:prstGeom prst="roundRect">
            <a:avLst>
              <a:gd name="adj" fmla="val 16862591"/>
            </a:avLst>
          </a:prstGeom>
          <a:solidFill>
            <a:srgbClr val="4950BC"/>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7008" y="1359545"/>
            <a:ext cx="152474" cy="152474"/>
          </a:xfrm>
          <a:prstGeom prst="rect">
            <a:avLst/>
          </a:prstGeom>
        </p:spPr>
      </p:pic>
      <p:sp>
        <p:nvSpPr>
          <p:cNvPr id="8" name="Text 5"/>
          <p:cNvSpPr/>
          <p:nvPr/>
        </p:nvSpPr>
        <p:spPr>
          <a:xfrm>
            <a:off x="613842" y="1695227"/>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Langages</a:t>
            </a:r>
            <a:endParaRPr lang="en-US" sz="1100" dirty="0"/>
          </a:p>
        </p:txBody>
      </p:sp>
      <p:sp>
        <p:nvSpPr>
          <p:cNvPr id="9" name="Text 6"/>
          <p:cNvSpPr/>
          <p:nvPr/>
        </p:nvSpPr>
        <p:spPr>
          <a:xfrm>
            <a:off x="613842" y="1925687"/>
            <a:ext cx="3795415" cy="162371"/>
          </a:xfrm>
          <a:prstGeom prst="rect">
            <a:avLst/>
          </a:prstGeom>
          <a:noFill/>
          <a:ln/>
        </p:spPr>
        <p:txBody>
          <a:bodyPr wrap="none" lIns="0" tIns="0" rIns="0" bIns="0" rtlCol="0" anchor="t"/>
          <a:lstStyle/>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TypeScript (style défensif) · SQL (PostgreSQL)</a:t>
            </a:r>
            <a:endParaRPr lang="en-US" sz="850" dirty="0"/>
          </a:p>
        </p:txBody>
      </p:sp>
      <p:sp>
        <p:nvSpPr>
          <p:cNvPr id="10" name="Shape 7"/>
          <p:cNvSpPr/>
          <p:nvPr/>
        </p:nvSpPr>
        <p:spPr>
          <a:xfrm>
            <a:off x="4616946" y="1148655"/>
            <a:ext cx="4030935" cy="1057126"/>
          </a:xfrm>
          <a:prstGeom prst="roundRect">
            <a:avLst>
              <a:gd name="adj" fmla="val 4488"/>
            </a:avLst>
          </a:prstGeom>
          <a:solidFill>
            <a:srgbClr val="DADBF1"/>
          </a:solidFill>
          <a:ln w="4763">
            <a:solidFill>
              <a:srgbClr val="C0C1D7"/>
            </a:solidFill>
            <a:prstDash val="solid"/>
          </a:ln>
        </p:spPr>
      </p:sp>
      <p:sp>
        <p:nvSpPr>
          <p:cNvPr id="11" name="Shape 8"/>
          <p:cNvSpPr/>
          <p:nvPr/>
        </p:nvSpPr>
        <p:spPr>
          <a:xfrm>
            <a:off x="4734669" y="1266379"/>
            <a:ext cx="338882" cy="338882"/>
          </a:xfrm>
          <a:prstGeom prst="roundRect">
            <a:avLst>
              <a:gd name="adj" fmla="val 16862591"/>
            </a:avLst>
          </a:prstGeom>
          <a:solidFill>
            <a:srgbClr val="4950BC"/>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27836" y="1359545"/>
            <a:ext cx="152474" cy="152474"/>
          </a:xfrm>
          <a:prstGeom prst="rect">
            <a:avLst/>
          </a:prstGeom>
        </p:spPr>
      </p:pic>
      <p:sp>
        <p:nvSpPr>
          <p:cNvPr id="13" name="Text 9"/>
          <p:cNvSpPr/>
          <p:nvPr/>
        </p:nvSpPr>
        <p:spPr>
          <a:xfrm>
            <a:off x="4734669" y="1695227"/>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Front-End</a:t>
            </a:r>
            <a:endParaRPr lang="en-US" sz="1100" dirty="0"/>
          </a:p>
        </p:txBody>
      </p:sp>
      <p:sp>
        <p:nvSpPr>
          <p:cNvPr id="14" name="Text 10"/>
          <p:cNvSpPr/>
          <p:nvPr/>
        </p:nvSpPr>
        <p:spPr>
          <a:xfrm>
            <a:off x="4734669" y="1925687"/>
            <a:ext cx="3795489" cy="162371"/>
          </a:xfrm>
          <a:prstGeom prst="rect">
            <a:avLst/>
          </a:prstGeom>
          <a:noFill/>
          <a:ln/>
        </p:spPr>
        <p:txBody>
          <a:bodyPr wrap="none" lIns="0" tIns="0" rIns="0" bIns="0" rtlCol="0" anchor="t"/>
          <a:lstStyle/>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React · Vite · React Router · Tailwind CSS · Radix UI · Framer Motion</a:t>
            </a:r>
            <a:endParaRPr lang="en-US" sz="850" dirty="0"/>
          </a:p>
        </p:txBody>
      </p:sp>
      <p:sp>
        <p:nvSpPr>
          <p:cNvPr id="15" name="Shape 11"/>
          <p:cNvSpPr/>
          <p:nvPr/>
        </p:nvSpPr>
        <p:spPr>
          <a:xfrm>
            <a:off x="496119" y="2295748"/>
            <a:ext cx="4030861" cy="1057126"/>
          </a:xfrm>
          <a:prstGeom prst="roundRect">
            <a:avLst>
              <a:gd name="adj" fmla="val 4488"/>
            </a:avLst>
          </a:prstGeom>
          <a:solidFill>
            <a:srgbClr val="DADBF1"/>
          </a:solidFill>
          <a:ln w="4763">
            <a:solidFill>
              <a:srgbClr val="C0C1D7"/>
            </a:solidFill>
            <a:prstDash val="solid"/>
          </a:ln>
        </p:spPr>
      </p:sp>
      <p:sp>
        <p:nvSpPr>
          <p:cNvPr id="16" name="Shape 12"/>
          <p:cNvSpPr/>
          <p:nvPr/>
        </p:nvSpPr>
        <p:spPr>
          <a:xfrm>
            <a:off x="613842" y="2413471"/>
            <a:ext cx="338882" cy="338882"/>
          </a:xfrm>
          <a:prstGeom prst="roundRect">
            <a:avLst>
              <a:gd name="adj" fmla="val 16862591"/>
            </a:avLst>
          </a:prstGeom>
          <a:solidFill>
            <a:srgbClr val="4950BC"/>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7008" y="2506638"/>
            <a:ext cx="152474" cy="152474"/>
          </a:xfrm>
          <a:prstGeom prst="rect">
            <a:avLst/>
          </a:prstGeom>
        </p:spPr>
      </p:pic>
      <p:sp>
        <p:nvSpPr>
          <p:cNvPr id="18" name="Text 13"/>
          <p:cNvSpPr/>
          <p:nvPr/>
        </p:nvSpPr>
        <p:spPr>
          <a:xfrm>
            <a:off x="613842" y="2842320"/>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Data &amp; BaaS</a:t>
            </a:r>
            <a:endParaRPr lang="en-US" sz="1100" dirty="0"/>
          </a:p>
        </p:txBody>
      </p:sp>
      <p:sp>
        <p:nvSpPr>
          <p:cNvPr id="19" name="Text 14"/>
          <p:cNvSpPr/>
          <p:nvPr/>
        </p:nvSpPr>
        <p:spPr>
          <a:xfrm>
            <a:off x="613842" y="3072780"/>
            <a:ext cx="3795415" cy="162371"/>
          </a:xfrm>
          <a:prstGeom prst="rect">
            <a:avLst/>
          </a:prstGeom>
          <a:noFill/>
          <a:ln/>
        </p:spPr>
        <p:txBody>
          <a:bodyPr wrap="none" lIns="0" tIns="0" rIns="0" bIns="0" rtlCol="0" anchor="t"/>
          <a:lstStyle/>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Supabase (PostgreSQL, Auth, RLS, OAuth) · Migrations SQL · API REST</a:t>
            </a:r>
            <a:endParaRPr lang="en-US" sz="850" dirty="0"/>
          </a:p>
        </p:txBody>
      </p:sp>
      <p:sp>
        <p:nvSpPr>
          <p:cNvPr id="20" name="Shape 15"/>
          <p:cNvSpPr/>
          <p:nvPr/>
        </p:nvSpPr>
        <p:spPr>
          <a:xfrm>
            <a:off x="4616946" y="2295748"/>
            <a:ext cx="4030935" cy="1057126"/>
          </a:xfrm>
          <a:prstGeom prst="roundRect">
            <a:avLst>
              <a:gd name="adj" fmla="val 4488"/>
            </a:avLst>
          </a:prstGeom>
          <a:solidFill>
            <a:srgbClr val="DADBF1"/>
          </a:solidFill>
          <a:ln w="4763">
            <a:solidFill>
              <a:srgbClr val="C0C1D7"/>
            </a:solidFill>
            <a:prstDash val="solid"/>
          </a:ln>
        </p:spPr>
      </p:sp>
      <p:sp>
        <p:nvSpPr>
          <p:cNvPr id="21" name="Shape 16"/>
          <p:cNvSpPr/>
          <p:nvPr/>
        </p:nvSpPr>
        <p:spPr>
          <a:xfrm>
            <a:off x="4734669" y="2413471"/>
            <a:ext cx="338882" cy="338882"/>
          </a:xfrm>
          <a:prstGeom prst="roundRect">
            <a:avLst>
              <a:gd name="adj" fmla="val 16862591"/>
            </a:avLst>
          </a:prstGeom>
          <a:solidFill>
            <a:srgbClr val="4950BC"/>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7836" y="2506638"/>
            <a:ext cx="152474" cy="152474"/>
          </a:xfrm>
          <a:prstGeom prst="rect">
            <a:avLst/>
          </a:prstGeom>
        </p:spPr>
      </p:pic>
      <p:sp>
        <p:nvSpPr>
          <p:cNvPr id="23" name="Text 17"/>
          <p:cNvSpPr/>
          <p:nvPr/>
        </p:nvSpPr>
        <p:spPr>
          <a:xfrm>
            <a:off x="4734669" y="2842320"/>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Authentification</a:t>
            </a:r>
            <a:endParaRPr lang="en-US" sz="1100" dirty="0"/>
          </a:p>
        </p:txBody>
      </p:sp>
      <p:sp>
        <p:nvSpPr>
          <p:cNvPr id="24" name="Text 18"/>
          <p:cNvSpPr/>
          <p:nvPr/>
        </p:nvSpPr>
        <p:spPr>
          <a:xfrm>
            <a:off x="4734669" y="3072780"/>
            <a:ext cx="3795489" cy="162371"/>
          </a:xfrm>
          <a:prstGeom prst="rect">
            <a:avLst/>
          </a:prstGeom>
          <a:noFill/>
          <a:ln/>
        </p:spPr>
        <p:txBody>
          <a:bodyPr wrap="none" lIns="0" tIns="0" rIns="0" bIns="0" rtlCol="0" anchor="t"/>
          <a:lstStyle/>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Supabase Auth · Google OAuth 2.0 · Google Cloud Console</a:t>
            </a:r>
            <a:endParaRPr lang="en-US" sz="850" dirty="0"/>
          </a:p>
        </p:txBody>
      </p:sp>
      <p:sp>
        <p:nvSpPr>
          <p:cNvPr id="25" name="Shape 19"/>
          <p:cNvSpPr/>
          <p:nvPr/>
        </p:nvSpPr>
        <p:spPr>
          <a:xfrm>
            <a:off x="496119" y="3442841"/>
            <a:ext cx="4030861" cy="1273448"/>
          </a:xfrm>
          <a:prstGeom prst="roundRect">
            <a:avLst>
              <a:gd name="adj" fmla="val 3726"/>
            </a:avLst>
          </a:prstGeom>
          <a:solidFill>
            <a:srgbClr val="DADBF1"/>
          </a:solidFill>
          <a:ln w="4763">
            <a:solidFill>
              <a:srgbClr val="C0C1D7"/>
            </a:solidFill>
            <a:prstDash val="solid"/>
          </a:ln>
        </p:spPr>
      </p:sp>
      <p:sp>
        <p:nvSpPr>
          <p:cNvPr id="26" name="Shape 20"/>
          <p:cNvSpPr/>
          <p:nvPr/>
        </p:nvSpPr>
        <p:spPr>
          <a:xfrm>
            <a:off x="613842" y="3560564"/>
            <a:ext cx="338882" cy="338882"/>
          </a:xfrm>
          <a:prstGeom prst="roundRect">
            <a:avLst>
              <a:gd name="adj" fmla="val 16862591"/>
            </a:avLst>
          </a:prstGeom>
          <a:solidFill>
            <a:srgbClr val="4950BC"/>
          </a:solidFill>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7008" y="3653730"/>
            <a:ext cx="152474" cy="152474"/>
          </a:xfrm>
          <a:prstGeom prst="rect">
            <a:avLst/>
          </a:prstGeom>
        </p:spPr>
      </p:pic>
      <p:sp>
        <p:nvSpPr>
          <p:cNvPr id="28" name="Text 21"/>
          <p:cNvSpPr/>
          <p:nvPr/>
        </p:nvSpPr>
        <p:spPr>
          <a:xfrm>
            <a:off x="613842" y="3989412"/>
            <a:ext cx="196334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Collaboration &amp; Déploiement</a:t>
            </a:r>
            <a:endParaRPr lang="en-US" sz="1100" dirty="0"/>
          </a:p>
        </p:txBody>
      </p:sp>
      <p:sp>
        <p:nvSpPr>
          <p:cNvPr id="29" name="Text 22"/>
          <p:cNvSpPr/>
          <p:nvPr/>
        </p:nvSpPr>
        <p:spPr>
          <a:xfrm>
            <a:off x="613842" y="4219873"/>
            <a:ext cx="3795415" cy="378693"/>
          </a:xfrm>
          <a:prstGeom prst="rect">
            <a:avLst/>
          </a:prstGeom>
          <a:noFill/>
          <a:ln/>
        </p:spPr>
        <p:txBody>
          <a:bodyPr wrap="square" lIns="0" tIns="0" rIns="0" bIns="0" rtlCol="0" anchor="t"/>
          <a:lstStyle/>
          <a:p>
            <a:pPr algn="l" indent="0" marL="0">
              <a:lnSpc>
                <a:spcPct val="120000"/>
              </a:lnSpc>
              <a:spcAft>
                <a:spcPts val="400"/>
              </a:spcAft>
              <a:buNone/>
            </a:pPr>
            <a:r>
              <a:rPr lang="en-US" sz="850" dirty="0">
                <a:solidFill>
                  <a:srgbClr val="272525"/>
                </a:solidFill>
                <a:latin typeface="Inter" pitchFamily="34" charset="0"/>
                <a:ea typeface="Inter" pitchFamily="34" charset="-122"/>
                <a:cs typeface="Inter" pitchFamily="34" charset="-120"/>
              </a:rPr>
              <a:t>Git / GitHub · Trello · Discord</a:t>
            </a:r>
            <a:endParaRPr lang="en-US" sz="850" dirty="0"/>
          </a:p>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Dokploy · Docker </a:t>
            </a:r>
            <a:endParaRPr lang="en-US" sz="850" dirty="0"/>
          </a:p>
        </p:txBody>
      </p:sp>
      <p:sp>
        <p:nvSpPr>
          <p:cNvPr id="30" name="Shape 23"/>
          <p:cNvSpPr/>
          <p:nvPr/>
        </p:nvSpPr>
        <p:spPr>
          <a:xfrm>
            <a:off x="4616946" y="3442841"/>
            <a:ext cx="4030935" cy="1273448"/>
          </a:xfrm>
          <a:prstGeom prst="roundRect">
            <a:avLst>
              <a:gd name="adj" fmla="val 3726"/>
            </a:avLst>
          </a:prstGeom>
          <a:solidFill>
            <a:srgbClr val="DADBF1"/>
          </a:solidFill>
          <a:ln w="4763">
            <a:solidFill>
              <a:srgbClr val="C0C1D7"/>
            </a:solidFill>
            <a:prstDash val="solid"/>
          </a:ln>
        </p:spPr>
      </p:sp>
      <p:sp>
        <p:nvSpPr>
          <p:cNvPr id="31" name="Shape 24"/>
          <p:cNvSpPr/>
          <p:nvPr/>
        </p:nvSpPr>
        <p:spPr>
          <a:xfrm>
            <a:off x="4734669" y="3560564"/>
            <a:ext cx="338882" cy="338882"/>
          </a:xfrm>
          <a:prstGeom prst="roundRect">
            <a:avLst>
              <a:gd name="adj" fmla="val 16862591"/>
            </a:avLst>
          </a:prstGeom>
          <a:solidFill>
            <a:srgbClr val="4950BC"/>
          </a:solidFill>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27836" y="3653730"/>
            <a:ext cx="152474" cy="152474"/>
          </a:xfrm>
          <a:prstGeom prst="rect">
            <a:avLst/>
          </a:prstGeom>
        </p:spPr>
      </p:pic>
      <p:sp>
        <p:nvSpPr>
          <p:cNvPr id="33" name="Text 25"/>
          <p:cNvSpPr/>
          <p:nvPr/>
        </p:nvSpPr>
        <p:spPr>
          <a:xfrm>
            <a:off x="4734669" y="3989412"/>
            <a:ext cx="1412081" cy="176510"/>
          </a:xfrm>
          <a:prstGeom prst="rect">
            <a:avLst/>
          </a:prstGeom>
          <a:noFill/>
          <a:ln/>
        </p:spPr>
        <p:txBody>
          <a:bodyPr wrap="none" lIns="0" tIns="0" rIns="0" bIns="0" rtlCol="0" anchor="t"/>
          <a:lstStyle/>
          <a:p>
            <a:pPr algn="l" indent="0" marL="0">
              <a:lnSpc>
                <a:spcPct val="104000"/>
              </a:lnSpc>
              <a:buNone/>
            </a:pPr>
            <a:r>
              <a:rPr lang="en-US" sz="1100" b="1" dirty="0">
                <a:solidFill>
                  <a:srgbClr val="272525"/>
                </a:solidFill>
                <a:latin typeface="Inter Bold" pitchFamily="34" charset="0"/>
                <a:ea typeface="Inter Bold" pitchFamily="34" charset="-122"/>
                <a:cs typeface="Inter Bold" pitchFamily="34" charset="-120"/>
              </a:rPr>
              <a:t>Sécurité &amp; Qualité</a:t>
            </a:r>
            <a:endParaRPr lang="en-US" sz="1100" dirty="0"/>
          </a:p>
        </p:txBody>
      </p:sp>
      <p:sp>
        <p:nvSpPr>
          <p:cNvPr id="34" name="Text 26"/>
          <p:cNvSpPr/>
          <p:nvPr/>
        </p:nvSpPr>
        <p:spPr>
          <a:xfrm>
            <a:off x="4734669" y="4219873"/>
            <a:ext cx="3795489" cy="162371"/>
          </a:xfrm>
          <a:prstGeom prst="rect">
            <a:avLst/>
          </a:prstGeom>
          <a:noFill/>
          <a:ln/>
        </p:spPr>
        <p:txBody>
          <a:bodyPr wrap="none" lIns="0" tIns="0" rIns="0" bIns="0" rtlCol="0" anchor="t"/>
          <a:lstStyle/>
          <a:p>
            <a:pPr algn="l" indent="0" marL="0">
              <a:lnSpc>
                <a:spcPct val="120000"/>
              </a:lnSpc>
              <a:buNone/>
            </a:pPr>
            <a:r>
              <a:rPr lang="en-US" sz="850" dirty="0">
                <a:solidFill>
                  <a:srgbClr val="272525"/>
                </a:solidFill>
                <a:latin typeface="Inter" pitchFamily="34" charset="0"/>
                <a:ea typeface="Inter" pitchFamily="34" charset="-122"/>
                <a:cs typeface="Inter" pitchFamily="34" charset="-120"/>
              </a:rPr>
              <a:t>ESLint · TypeScript strict · XSS/CSRF · RGPD · ANSSI · RGAA</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452289"/>
            <a:ext cx="1654969" cy="228451"/>
          </a:xfrm>
          <a:prstGeom prst="roundRect">
            <a:avLst>
              <a:gd name="adj" fmla="val 18570"/>
            </a:avLst>
          </a:prstGeom>
          <a:solidFill>
            <a:srgbClr val="DADBF1"/>
          </a:solidFill>
          <a:ln/>
        </p:spPr>
      </p:sp>
      <p:sp>
        <p:nvSpPr>
          <p:cNvPr id="3" name="Text 1"/>
          <p:cNvSpPr/>
          <p:nvPr/>
        </p:nvSpPr>
        <p:spPr>
          <a:xfrm>
            <a:off x="571872" y="490165"/>
            <a:ext cx="1960662" cy="152698"/>
          </a:xfrm>
          <a:prstGeom prst="rect">
            <a:avLst/>
          </a:prstGeom>
          <a:noFill/>
          <a:ln/>
        </p:spPr>
        <p:txBody>
          <a:bodyPr wrap="none" lIns="0" tIns="0" rIns="0" bIns="0" rtlCol="0" anchor="t"/>
          <a:lstStyle/>
          <a:p>
            <a:pPr algn="l" indent="0" marL="0">
              <a:lnSpc>
                <a:spcPct val="126000"/>
              </a:lnSpc>
              <a:buNone/>
            </a:pPr>
            <a:r>
              <a:rPr lang="en-US" sz="750" dirty="0">
                <a:solidFill>
                  <a:srgbClr val="272525"/>
                </a:solidFill>
                <a:latin typeface="Inter" pitchFamily="34" charset="0"/>
                <a:ea typeface="Inter" pitchFamily="34" charset="-122"/>
                <a:cs typeface="Inter" pitchFamily="34" charset="-120"/>
              </a:rPr>
              <a:t>05 · BLOCS DE COMPÉTENCES</a:t>
            </a:r>
            <a:endParaRPr lang="en-US" sz="750" dirty="0"/>
          </a:p>
        </p:txBody>
      </p:sp>
      <p:sp>
        <p:nvSpPr>
          <p:cNvPr id="4" name="Text 2"/>
          <p:cNvSpPr/>
          <p:nvPr/>
        </p:nvSpPr>
        <p:spPr>
          <a:xfrm>
            <a:off x="496119" y="725686"/>
            <a:ext cx="6844382" cy="394543"/>
          </a:xfrm>
          <a:prstGeom prst="rect">
            <a:avLst/>
          </a:prstGeom>
          <a:noFill/>
          <a:ln/>
        </p:spPr>
        <p:txBody>
          <a:bodyPr wrap="none" lIns="0" tIns="0" rIns="0" bIns="0" rtlCol="0" anchor="t"/>
          <a:lstStyle/>
          <a:p>
            <a:pPr algn="l" indent="0" marL="0">
              <a:lnSpc>
                <a:spcPct val="104000"/>
              </a:lnSpc>
              <a:buNone/>
            </a:pPr>
            <a:r>
              <a:rPr lang="en-US" sz="2450" b="1" dirty="0">
                <a:solidFill>
                  <a:srgbClr val="000000"/>
                </a:solidFill>
                <a:latin typeface="Inter Bold" pitchFamily="34" charset="0"/>
                <a:ea typeface="Inter Bold" pitchFamily="34" charset="-122"/>
                <a:cs typeface="Inter Bold" pitchFamily="34" charset="-120"/>
              </a:rPr>
              <a:t>Blocs de compétences du référentiel CDA</a:t>
            </a:r>
            <a:endParaRPr lang="en-US" sz="2450" dirty="0"/>
          </a:p>
        </p:txBody>
      </p:sp>
      <p:sp>
        <p:nvSpPr>
          <p:cNvPr id="5" name="Shape 3"/>
          <p:cNvSpPr/>
          <p:nvPr/>
        </p:nvSpPr>
        <p:spPr>
          <a:xfrm>
            <a:off x="496119" y="1288852"/>
            <a:ext cx="1358578" cy="1089943"/>
          </a:xfrm>
          <a:prstGeom prst="roundRect">
            <a:avLst>
              <a:gd name="adj" fmla="val 4865"/>
            </a:avLst>
          </a:prstGeom>
          <a:solidFill>
            <a:srgbClr val="DADBF1"/>
          </a:solidFill>
          <a:ln w="4763">
            <a:solidFill>
              <a:srgbClr val="C0C1D7"/>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6594" y="1745010"/>
            <a:ext cx="177552" cy="177552"/>
          </a:xfrm>
          <a:prstGeom prst="rect">
            <a:avLst/>
          </a:prstGeom>
        </p:spPr>
      </p:pic>
      <p:sp>
        <p:nvSpPr>
          <p:cNvPr id="7" name="Text 4"/>
          <p:cNvSpPr/>
          <p:nvPr/>
        </p:nvSpPr>
        <p:spPr>
          <a:xfrm>
            <a:off x="1980902" y="1415058"/>
            <a:ext cx="4012481" cy="197272"/>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Préparer le déploiement d'une application sécurisée</a:t>
            </a:r>
            <a:endParaRPr lang="en-US" sz="1200" dirty="0"/>
          </a:p>
        </p:txBody>
      </p:sp>
      <p:sp>
        <p:nvSpPr>
          <p:cNvPr id="8" name="Text 5"/>
          <p:cNvSpPr/>
          <p:nvPr/>
        </p:nvSpPr>
        <p:spPr>
          <a:xfrm>
            <a:off x="1980902" y="1679749"/>
            <a:ext cx="6540773" cy="572839"/>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Pipeline automatisé GitHub → Dokploy, conteneurisation Docker, documentation README et migrations SQL versionnées, workflow CI/CD avec branches feature/* et code review, monitoring infrastructure et gestion sécurisée des secrets.</a:t>
            </a:r>
            <a:endParaRPr lang="en-US" sz="950" dirty="0"/>
          </a:p>
        </p:txBody>
      </p:sp>
      <p:sp>
        <p:nvSpPr>
          <p:cNvPr id="9" name="Shape 6"/>
          <p:cNvSpPr/>
          <p:nvPr/>
        </p:nvSpPr>
        <p:spPr>
          <a:xfrm>
            <a:off x="1917799" y="2372841"/>
            <a:ext cx="6666979" cy="7144"/>
          </a:xfrm>
          <a:prstGeom prst="roundRect">
            <a:avLst>
              <a:gd name="adj" fmla="val 742300"/>
            </a:avLst>
          </a:prstGeom>
          <a:solidFill>
            <a:srgbClr val="C0C1D7"/>
          </a:solidFill>
          <a:ln/>
        </p:spPr>
      </p:sp>
      <p:sp>
        <p:nvSpPr>
          <p:cNvPr id="10" name="Shape 7"/>
          <p:cNvSpPr/>
          <p:nvPr/>
        </p:nvSpPr>
        <p:spPr>
          <a:xfrm>
            <a:off x="496119" y="2441897"/>
            <a:ext cx="2717229" cy="1096268"/>
          </a:xfrm>
          <a:prstGeom prst="roundRect">
            <a:avLst>
              <a:gd name="adj" fmla="val 4837"/>
            </a:avLst>
          </a:prstGeom>
          <a:solidFill>
            <a:srgbClr val="DADBF1"/>
          </a:solidFill>
          <a:ln w="4763">
            <a:solidFill>
              <a:srgbClr val="C0C1D7"/>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65920" y="2901255"/>
            <a:ext cx="177552" cy="177552"/>
          </a:xfrm>
          <a:prstGeom prst="rect">
            <a:avLst/>
          </a:prstGeom>
        </p:spPr>
      </p:pic>
      <p:sp>
        <p:nvSpPr>
          <p:cNvPr id="12" name="Text 8"/>
          <p:cNvSpPr/>
          <p:nvPr/>
        </p:nvSpPr>
        <p:spPr>
          <a:xfrm>
            <a:off x="3339554" y="2568104"/>
            <a:ext cx="5182121" cy="394543"/>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Concevoir et développer une application sécurisée organisée en couches</a:t>
            </a:r>
            <a:endParaRPr lang="en-US" sz="1200" dirty="0"/>
          </a:p>
        </p:txBody>
      </p:sp>
      <p:sp>
        <p:nvSpPr>
          <p:cNvPr id="13" name="Text 9"/>
          <p:cNvSpPr/>
          <p:nvPr/>
        </p:nvSpPr>
        <p:spPr>
          <a:xfrm>
            <a:off x="3339554" y="3030066"/>
            <a:ext cx="5182121"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Analyse besoins B2B/B2C · Modélisation MCD PostgreSQL · Architecture modulaire multicouche · Full stack React/Supabase/API REST · RLS &amp; OAuth 2.0</a:t>
            </a:r>
            <a:endParaRPr lang="en-US" sz="950" dirty="0"/>
          </a:p>
        </p:txBody>
      </p:sp>
      <p:sp>
        <p:nvSpPr>
          <p:cNvPr id="14" name="Shape 10"/>
          <p:cNvSpPr/>
          <p:nvPr/>
        </p:nvSpPr>
        <p:spPr>
          <a:xfrm>
            <a:off x="3276451" y="3532212"/>
            <a:ext cx="5308327" cy="7144"/>
          </a:xfrm>
          <a:prstGeom prst="roundRect">
            <a:avLst>
              <a:gd name="adj" fmla="val 742300"/>
            </a:avLst>
          </a:prstGeom>
          <a:solidFill>
            <a:srgbClr val="C0C1D7"/>
          </a:solidFill>
          <a:ln/>
        </p:spPr>
      </p:sp>
      <p:sp>
        <p:nvSpPr>
          <p:cNvPr id="15" name="Shape 11"/>
          <p:cNvSpPr/>
          <p:nvPr/>
        </p:nvSpPr>
        <p:spPr>
          <a:xfrm>
            <a:off x="496119" y="3601269"/>
            <a:ext cx="4075881" cy="1089943"/>
          </a:xfrm>
          <a:prstGeom prst="roundRect">
            <a:avLst>
              <a:gd name="adj" fmla="val 4865"/>
            </a:avLst>
          </a:prstGeom>
          <a:solidFill>
            <a:srgbClr val="DADBF1"/>
          </a:solidFill>
          <a:ln w="4763">
            <a:solidFill>
              <a:srgbClr val="C0C1D7"/>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45246" y="4057427"/>
            <a:ext cx="177552" cy="177552"/>
          </a:xfrm>
          <a:prstGeom prst="rect">
            <a:avLst/>
          </a:prstGeom>
        </p:spPr>
      </p:pic>
      <p:sp>
        <p:nvSpPr>
          <p:cNvPr id="17" name="Text 12"/>
          <p:cNvSpPr/>
          <p:nvPr/>
        </p:nvSpPr>
        <p:spPr>
          <a:xfrm>
            <a:off x="4698206" y="3727475"/>
            <a:ext cx="2810694" cy="197272"/>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Inter Bold" pitchFamily="34" charset="0"/>
                <a:ea typeface="Inter Bold" pitchFamily="34" charset="-122"/>
                <a:cs typeface="Inter Bold" pitchFamily="34" charset="-120"/>
              </a:rPr>
              <a:t>Développer une application sécurisé</a:t>
            </a:r>
            <a:endParaRPr lang="en-US" sz="1200" dirty="0"/>
          </a:p>
        </p:txBody>
      </p:sp>
      <p:sp>
        <p:nvSpPr>
          <p:cNvPr id="18" name="Text 13"/>
          <p:cNvSpPr/>
          <p:nvPr/>
        </p:nvSpPr>
        <p:spPr>
          <a:xfrm>
            <a:off x="4698206" y="3992166"/>
            <a:ext cx="3823469" cy="572839"/>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Composants métier (Panel Admin), accès aux données CRUD sécurisés (RLS), interfaces React/TypeScript · Tests unitaires &amp; sécurit, Google OAuth 2.0, recommandations ANSSI et RGPD. </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800993"/>
            <a:ext cx="1448246" cy="266402"/>
          </a:xfrm>
          <a:prstGeom prst="roundRect">
            <a:avLst>
              <a:gd name="adj" fmla="val 17880"/>
            </a:avLst>
          </a:prstGeom>
          <a:solidFill>
            <a:srgbClr val="DADBF1"/>
          </a:solidFill>
          <a:ln/>
        </p:spPr>
      </p:sp>
      <p:sp>
        <p:nvSpPr>
          <p:cNvPr id="3" name="Text 1"/>
          <p:cNvSpPr/>
          <p:nvPr/>
        </p:nvSpPr>
        <p:spPr>
          <a:xfrm>
            <a:off x="581174" y="843483"/>
            <a:ext cx="1735336" cy="181421"/>
          </a:xfrm>
          <a:prstGeom prst="rect">
            <a:avLst/>
          </a:prstGeom>
          <a:noFill/>
          <a:ln/>
        </p:spPr>
        <p:txBody>
          <a:bodyPr wrap="none" lIns="0" tIns="0" rIns="0" bIns="0" rtlCol="0" anchor="t"/>
          <a:lstStyle/>
          <a:p>
            <a:pPr algn="l" indent="0" marL="0">
              <a:lnSpc>
                <a:spcPct val="133000"/>
              </a:lnSpc>
              <a:buNone/>
            </a:pPr>
            <a:r>
              <a:rPr lang="en-US" sz="850" dirty="0">
                <a:solidFill>
                  <a:srgbClr val="272525"/>
                </a:solidFill>
                <a:latin typeface="Inter" pitchFamily="34" charset="0"/>
                <a:ea typeface="Inter" pitchFamily="34" charset="-122"/>
                <a:cs typeface="Inter" pitchFamily="34" charset="-120"/>
              </a:rPr>
              <a:t>06 · BILAN PERSONNEL</a:t>
            </a:r>
            <a:endParaRPr lang="en-US" sz="850" dirty="0"/>
          </a:p>
        </p:txBody>
      </p:sp>
      <p:sp>
        <p:nvSpPr>
          <p:cNvPr id="4" name="Text 2"/>
          <p:cNvSpPr/>
          <p:nvPr/>
        </p:nvSpPr>
        <p:spPr>
          <a:xfrm>
            <a:off x="496119" y="1124099"/>
            <a:ext cx="8167167"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Réalisations, Apprentissages &amp; Perspectives</a:t>
            </a:r>
            <a:endParaRPr lang="en-US" sz="2750" dirty="0"/>
          </a:p>
        </p:txBody>
      </p:sp>
      <p:sp>
        <p:nvSpPr>
          <p:cNvPr id="5" name="Shape 3"/>
          <p:cNvSpPr/>
          <p:nvPr/>
        </p:nvSpPr>
        <p:spPr>
          <a:xfrm>
            <a:off x="496119" y="1779687"/>
            <a:ext cx="8151763" cy="2562746"/>
          </a:xfrm>
          <a:prstGeom prst="roundRect">
            <a:avLst>
              <a:gd name="adj" fmla="val 2323"/>
            </a:avLst>
          </a:prstGeom>
          <a:solidFill>
            <a:srgbClr val="DADBF1"/>
          </a:solidFill>
          <a:ln w="4763">
            <a:solidFill>
              <a:srgbClr val="C0C1D7"/>
            </a:solidFill>
            <a:prstDash val="solid"/>
          </a:ln>
        </p:spPr>
      </p:sp>
      <p:sp>
        <p:nvSpPr>
          <p:cNvPr id="6" name="Shape 4"/>
          <p:cNvSpPr/>
          <p:nvPr/>
        </p:nvSpPr>
        <p:spPr>
          <a:xfrm>
            <a:off x="500881" y="1784449"/>
            <a:ext cx="2714030" cy="2553221"/>
          </a:xfrm>
          <a:prstGeom prst="rect">
            <a:avLst/>
          </a:prstGeom>
          <a:solidFill>
            <a:srgbClr val="DADBF1"/>
          </a:solidFill>
          <a:ln/>
        </p:spPr>
      </p:sp>
      <p:sp>
        <p:nvSpPr>
          <p:cNvPr id="7" name="Text 5"/>
          <p:cNvSpPr/>
          <p:nvPr/>
        </p:nvSpPr>
        <p:spPr>
          <a:xfrm>
            <a:off x="642640" y="1926208"/>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Ce que j'ai réalisé</a:t>
            </a:r>
            <a:endParaRPr lang="en-US" sz="1350" dirty="0"/>
          </a:p>
        </p:txBody>
      </p:sp>
      <p:sp>
        <p:nvSpPr>
          <p:cNvPr id="8" name="Text 6"/>
          <p:cNvSpPr/>
          <p:nvPr/>
        </p:nvSpPr>
        <p:spPr>
          <a:xfrm>
            <a:off x="642640" y="2232720"/>
            <a:ext cx="2430512" cy="1736378"/>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Composants UI sécurisés déployés en production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Authentification Google (nom + avatar automatiques)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Migrations SQL sans régression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Tests unitaires et veille technologique</a:t>
            </a:r>
            <a:endParaRPr lang="en-US" sz="1100" dirty="0"/>
          </a:p>
        </p:txBody>
      </p:sp>
      <p:sp>
        <p:nvSpPr>
          <p:cNvPr id="9" name="Shape 7"/>
          <p:cNvSpPr/>
          <p:nvPr/>
        </p:nvSpPr>
        <p:spPr>
          <a:xfrm>
            <a:off x="3214911" y="1784449"/>
            <a:ext cx="2714104" cy="2553221"/>
          </a:xfrm>
          <a:prstGeom prst="rect">
            <a:avLst/>
          </a:prstGeom>
          <a:solidFill>
            <a:srgbClr val="DADBF1"/>
          </a:solidFill>
          <a:ln/>
        </p:spPr>
      </p:sp>
      <p:sp>
        <p:nvSpPr>
          <p:cNvPr id="10" name="Shape 8"/>
          <p:cNvSpPr/>
          <p:nvPr/>
        </p:nvSpPr>
        <p:spPr>
          <a:xfrm>
            <a:off x="3214911" y="1784449"/>
            <a:ext cx="19050" cy="2553221"/>
          </a:xfrm>
          <a:prstGeom prst="roundRect">
            <a:avLst>
              <a:gd name="adj" fmla="val 312558"/>
            </a:avLst>
          </a:prstGeom>
          <a:solidFill>
            <a:srgbClr val="C0C1D7"/>
          </a:solidFill>
          <a:ln/>
        </p:spPr>
      </p:sp>
      <p:sp>
        <p:nvSpPr>
          <p:cNvPr id="11" name="Text 9"/>
          <p:cNvSpPr/>
          <p:nvPr/>
        </p:nvSpPr>
        <p:spPr>
          <a:xfrm>
            <a:off x="3356670" y="1926208"/>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Ce que j'ai appris</a:t>
            </a:r>
            <a:endParaRPr lang="en-US" sz="1350" dirty="0"/>
          </a:p>
        </p:txBody>
      </p:sp>
      <p:sp>
        <p:nvSpPr>
          <p:cNvPr id="12" name="Text 10"/>
          <p:cNvSpPr/>
          <p:nvPr/>
        </p:nvSpPr>
        <p:spPr>
          <a:xfrm>
            <a:off x="3356670" y="2232720"/>
            <a:ext cx="2430587" cy="1963192"/>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Travailler en autonomie en méthode agile</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Comprendre les enjeux d'une startup</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La rigueur de l'intégrité des données en production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L'importance de la communication en équipe</a:t>
            </a:r>
            <a:endParaRPr lang="en-US" sz="1100" dirty="0"/>
          </a:p>
        </p:txBody>
      </p:sp>
      <p:sp>
        <p:nvSpPr>
          <p:cNvPr id="13" name="Shape 11"/>
          <p:cNvSpPr/>
          <p:nvPr/>
        </p:nvSpPr>
        <p:spPr>
          <a:xfrm>
            <a:off x="5929015" y="1784449"/>
            <a:ext cx="2714104" cy="2553221"/>
          </a:xfrm>
          <a:prstGeom prst="rect">
            <a:avLst/>
          </a:prstGeom>
          <a:solidFill>
            <a:srgbClr val="DADBF1"/>
          </a:solidFill>
          <a:ln/>
        </p:spPr>
      </p:sp>
      <p:sp>
        <p:nvSpPr>
          <p:cNvPr id="14" name="Shape 12"/>
          <p:cNvSpPr/>
          <p:nvPr/>
        </p:nvSpPr>
        <p:spPr>
          <a:xfrm>
            <a:off x="5929015" y="1784449"/>
            <a:ext cx="19050" cy="2553221"/>
          </a:xfrm>
          <a:prstGeom prst="roundRect">
            <a:avLst>
              <a:gd name="adj" fmla="val 312558"/>
            </a:avLst>
          </a:prstGeom>
          <a:solidFill>
            <a:srgbClr val="C0C1D7"/>
          </a:solidFill>
          <a:ln/>
        </p:spPr>
      </p:sp>
      <p:sp>
        <p:nvSpPr>
          <p:cNvPr id="15" name="Text 13"/>
          <p:cNvSpPr/>
          <p:nvPr/>
        </p:nvSpPr>
        <p:spPr>
          <a:xfrm>
            <a:off x="6070774" y="1926208"/>
            <a:ext cx="17720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Perspectives</a:t>
            </a:r>
            <a:endParaRPr lang="en-US" sz="1350" dirty="0"/>
          </a:p>
        </p:txBody>
      </p:sp>
      <p:sp>
        <p:nvSpPr>
          <p:cNvPr id="16" name="Text 14"/>
          <p:cNvSpPr/>
          <p:nvPr/>
        </p:nvSpPr>
        <p:spPr>
          <a:xfrm>
            <a:off x="6070774" y="2232720"/>
            <a:ext cx="2430587" cy="1410444"/>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Renforcer les compétences en développement d'APIs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Poursuivre en Master Expert système d'information et sécurité pour consolider l'expertise.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499988"/>
            <a:ext cx="1394147" cy="218033"/>
          </a:xfrm>
          <a:prstGeom prst="roundRect">
            <a:avLst>
              <a:gd name="adj" fmla="val 18775"/>
            </a:avLst>
          </a:prstGeom>
          <a:solidFill>
            <a:srgbClr val="DADBF1"/>
          </a:solidFill>
          <a:ln/>
        </p:spPr>
      </p:sp>
      <p:sp>
        <p:nvSpPr>
          <p:cNvPr id="3" name="Text 1"/>
          <p:cNvSpPr/>
          <p:nvPr/>
        </p:nvSpPr>
        <p:spPr>
          <a:xfrm>
            <a:off x="569193" y="536525"/>
            <a:ext cx="1705198" cy="144959"/>
          </a:xfrm>
          <a:prstGeom prst="rect">
            <a:avLst/>
          </a:prstGeom>
          <a:noFill/>
          <a:ln/>
        </p:spPr>
        <p:txBody>
          <a:bodyPr wrap="none" lIns="0" tIns="0" rIns="0" bIns="0" rtlCol="0" anchor="t"/>
          <a:lstStyle/>
          <a:p>
            <a:pPr algn="l" indent="0" marL="0">
              <a:lnSpc>
                <a:spcPct val="124000"/>
              </a:lnSpc>
              <a:buNone/>
            </a:pPr>
            <a:r>
              <a:rPr lang="en-US" sz="750" dirty="0">
                <a:solidFill>
                  <a:srgbClr val="272525"/>
                </a:solidFill>
                <a:latin typeface="Inter" pitchFamily="34" charset="0"/>
                <a:ea typeface="Inter" pitchFamily="34" charset="-122"/>
                <a:cs typeface="Inter" pitchFamily="34" charset="-120"/>
              </a:rPr>
              <a:t>07 · APERÇU DU PRODUIT </a:t>
            </a:r>
            <a:endParaRPr lang="en-US" sz="750" dirty="0"/>
          </a:p>
        </p:txBody>
      </p:sp>
      <p:sp>
        <p:nvSpPr>
          <p:cNvPr id="4" name="Text 2"/>
          <p:cNvSpPr/>
          <p:nvPr/>
        </p:nvSpPr>
        <p:spPr>
          <a:xfrm>
            <a:off x="496119" y="759842"/>
            <a:ext cx="5369123" cy="380702"/>
          </a:xfrm>
          <a:prstGeom prst="rect">
            <a:avLst/>
          </a:prstGeom>
          <a:noFill/>
          <a:ln/>
        </p:spPr>
        <p:txBody>
          <a:bodyPr wrap="none" lIns="0" tIns="0" rIns="0" bIns="0" rtlCol="0" anchor="t"/>
          <a:lstStyle/>
          <a:p>
            <a:pPr algn="l" indent="0" marL="0">
              <a:lnSpc>
                <a:spcPct val="104000"/>
              </a:lnSpc>
              <a:buNone/>
            </a:pPr>
            <a:r>
              <a:rPr lang="en-US" sz="2350" b="1" dirty="0">
                <a:solidFill>
                  <a:srgbClr val="000000"/>
                </a:solidFill>
                <a:latin typeface="Inter Bold" pitchFamily="34" charset="0"/>
                <a:ea typeface="Inter Bold" pitchFamily="34" charset="-122"/>
                <a:cs typeface="Inter Bold" pitchFamily="34" charset="-120"/>
              </a:rPr>
              <a:t>Aperçu du Produit — Icons Arena</a:t>
            </a:r>
            <a:endParaRPr lang="en-US" sz="2350" dirty="0"/>
          </a:p>
        </p:txBody>
      </p:sp>
      <p:sp>
        <p:nvSpPr>
          <p:cNvPr id="5" name="Text 3"/>
          <p:cNvSpPr/>
          <p:nvPr/>
        </p:nvSpPr>
        <p:spPr>
          <a:xfrm>
            <a:off x="496119" y="1297558"/>
            <a:ext cx="8608963" cy="181198"/>
          </a:xfrm>
          <a:prstGeom prst="rect">
            <a:avLst/>
          </a:prstGeom>
          <a:noFill/>
          <a:ln/>
        </p:spPr>
        <p:txBody>
          <a:bodyPr wrap="none" lIns="0" tIns="0" rIns="0" bIns="0" rtlCol="0" anchor="t"/>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Collectez des cartes digitales uniques représentant les plus grands entrepreneurs. Jouez à Icons Arena et échangez avec la communauté.</a:t>
            </a:r>
            <a:endParaRPr lang="en-US" sz="950" dirty="0"/>
          </a:p>
        </p:txBody>
      </p:sp>
      <p:sp>
        <p:nvSpPr>
          <p:cNvPr id="6" name="Text 4"/>
          <p:cNvSpPr/>
          <p:nvPr/>
        </p:nvSpPr>
        <p:spPr>
          <a:xfrm>
            <a:off x="496119" y="1701105"/>
            <a:ext cx="2000176" cy="19035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Front-End Utilisateur</a:t>
            </a:r>
            <a:endParaRPr lang="en-US" sz="1150" dirty="0"/>
          </a:p>
        </p:txBody>
      </p:sp>
      <p:sp>
        <p:nvSpPr>
          <p:cNvPr id="7" name="Shape 5"/>
          <p:cNvSpPr/>
          <p:nvPr/>
        </p:nvSpPr>
        <p:spPr>
          <a:xfrm>
            <a:off x="496119" y="2009180"/>
            <a:ext cx="1911325" cy="1110779"/>
          </a:xfrm>
          <a:prstGeom prst="roundRect">
            <a:avLst>
              <a:gd name="adj" fmla="val 4607"/>
            </a:avLst>
          </a:prstGeom>
          <a:solidFill>
            <a:srgbClr val="FFFFFF"/>
          </a:solidFill>
          <a:ln w="14288">
            <a:solidFill>
              <a:srgbClr val="C0C1D7"/>
            </a:solidFill>
            <a:prstDash val="solid"/>
          </a:ln>
        </p:spPr>
      </p:sp>
      <p:sp>
        <p:nvSpPr>
          <p:cNvPr id="8" name="Text 6"/>
          <p:cNvSpPr/>
          <p:nvPr/>
        </p:nvSpPr>
        <p:spPr>
          <a:xfrm>
            <a:off x="632222" y="2145283"/>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Marketplace</a:t>
            </a:r>
            <a:endParaRPr lang="en-US" sz="1150" dirty="0"/>
          </a:p>
        </p:txBody>
      </p:sp>
      <p:sp>
        <p:nvSpPr>
          <p:cNvPr id="9" name="Text 7"/>
          <p:cNvSpPr/>
          <p:nvPr/>
        </p:nvSpPr>
        <p:spPr>
          <a:xfrm>
            <a:off x="632222" y="2440260"/>
            <a:ext cx="1639119"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Boutique avec filtres par rareté et secteur, navigation fluide et responsive.</a:t>
            </a:r>
            <a:endParaRPr lang="en-US" sz="950" dirty="0"/>
          </a:p>
        </p:txBody>
      </p:sp>
      <p:sp>
        <p:nvSpPr>
          <p:cNvPr id="10" name="Shape 8"/>
          <p:cNvSpPr/>
          <p:nvPr/>
        </p:nvSpPr>
        <p:spPr>
          <a:xfrm>
            <a:off x="2512070" y="2009180"/>
            <a:ext cx="1911325" cy="1110779"/>
          </a:xfrm>
          <a:prstGeom prst="roundRect">
            <a:avLst>
              <a:gd name="adj" fmla="val 4607"/>
            </a:avLst>
          </a:prstGeom>
          <a:solidFill>
            <a:srgbClr val="FFFFFF"/>
          </a:solidFill>
          <a:ln w="14288">
            <a:solidFill>
              <a:srgbClr val="C0C1D7"/>
            </a:solidFill>
            <a:prstDash val="solid"/>
          </a:ln>
        </p:spPr>
      </p:sp>
      <p:sp>
        <p:nvSpPr>
          <p:cNvPr id="11" name="Text 9"/>
          <p:cNvSpPr/>
          <p:nvPr/>
        </p:nvSpPr>
        <p:spPr>
          <a:xfrm>
            <a:off x="2648173" y="2145283"/>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Boosters</a:t>
            </a:r>
            <a:endParaRPr lang="en-US" sz="1150" dirty="0"/>
          </a:p>
        </p:txBody>
      </p:sp>
      <p:sp>
        <p:nvSpPr>
          <p:cNvPr id="12" name="Text 10"/>
          <p:cNvSpPr/>
          <p:nvPr/>
        </p:nvSpPr>
        <p:spPr>
          <a:xfrm>
            <a:off x="2648173" y="2440260"/>
            <a:ext cx="1639119"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Taux de drop Commune / Rare / Épique / Légendaire avec effets visuels animés.</a:t>
            </a:r>
            <a:endParaRPr lang="en-US" sz="950" dirty="0"/>
          </a:p>
        </p:txBody>
      </p:sp>
      <p:sp>
        <p:nvSpPr>
          <p:cNvPr id="13" name="Shape 11"/>
          <p:cNvSpPr/>
          <p:nvPr/>
        </p:nvSpPr>
        <p:spPr>
          <a:xfrm>
            <a:off x="496119" y="3224585"/>
            <a:ext cx="3927277" cy="929580"/>
          </a:xfrm>
          <a:prstGeom prst="roundRect">
            <a:avLst>
              <a:gd name="adj" fmla="val 5505"/>
            </a:avLst>
          </a:prstGeom>
          <a:solidFill>
            <a:srgbClr val="FFFFFF"/>
          </a:solidFill>
          <a:ln w="14288">
            <a:solidFill>
              <a:srgbClr val="C0C1D7"/>
            </a:solidFill>
            <a:prstDash val="solid"/>
          </a:ln>
        </p:spPr>
      </p:sp>
      <p:sp>
        <p:nvSpPr>
          <p:cNvPr id="14" name="Text 12"/>
          <p:cNvSpPr/>
          <p:nvPr/>
        </p:nvSpPr>
        <p:spPr>
          <a:xfrm>
            <a:off x="632222" y="3360688"/>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Modal Carte</a:t>
            </a:r>
            <a:endParaRPr lang="en-US" sz="1150" dirty="0"/>
          </a:p>
        </p:txBody>
      </p:sp>
      <p:sp>
        <p:nvSpPr>
          <p:cNvPr id="15" name="Text 13"/>
          <p:cNvSpPr/>
          <p:nvPr/>
        </p:nvSpPr>
        <p:spPr>
          <a:xfrm>
            <a:off x="632222" y="3655665"/>
            <a:ext cx="3655070"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Stats live, édition limitée, informations détaillées sur chaque carte.</a:t>
            </a:r>
            <a:endParaRPr lang="en-US" sz="950" dirty="0"/>
          </a:p>
        </p:txBody>
      </p:sp>
      <p:sp>
        <p:nvSpPr>
          <p:cNvPr id="16" name="Text 14"/>
          <p:cNvSpPr/>
          <p:nvPr/>
        </p:nvSpPr>
        <p:spPr>
          <a:xfrm>
            <a:off x="4725367" y="1701105"/>
            <a:ext cx="1980084" cy="19035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Panel Admin</a:t>
            </a:r>
            <a:endParaRPr lang="en-US" sz="1150" dirty="0"/>
          </a:p>
        </p:txBody>
      </p:sp>
      <p:sp>
        <p:nvSpPr>
          <p:cNvPr id="17" name="Shape 15"/>
          <p:cNvSpPr/>
          <p:nvPr/>
        </p:nvSpPr>
        <p:spPr>
          <a:xfrm>
            <a:off x="4725367" y="2009180"/>
            <a:ext cx="1911325" cy="1482328"/>
          </a:xfrm>
          <a:prstGeom prst="roundRect">
            <a:avLst>
              <a:gd name="adj" fmla="val 3452"/>
            </a:avLst>
          </a:prstGeom>
          <a:solidFill>
            <a:srgbClr val="FFFFFF"/>
          </a:solidFill>
          <a:ln w="14288">
            <a:solidFill>
              <a:srgbClr val="C0C1D7"/>
            </a:solidFill>
            <a:prstDash val="solid"/>
          </a:ln>
        </p:spPr>
      </p:sp>
      <p:sp>
        <p:nvSpPr>
          <p:cNvPr id="18" name="Text 16"/>
          <p:cNvSpPr/>
          <p:nvPr/>
        </p:nvSpPr>
        <p:spPr>
          <a:xfrm>
            <a:off x="4861471" y="2145283"/>
            <a:ext cx="1639119" cy="380702"/>
          </a:xfrm>
          <a:prstGeom prst="rect">
            <a:avLst/>
          </a:prstGeom>
          <a:noFill/>
          <a:ln/>
        </p:spPr>
        <p:txBody>
          <a:bodyPr wrap="square" lIns="0" tIns="0" rIns="0" bIns="0" rtlCol="0" anchor="t">
            <a:normAutofit/>
          </a:bodyPr>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Architecture Modulaire</a:t>
            </a:r>
            <a:endParaRPr lang="en-US" sz="1150" dirty="0"/>
          </a:p>
        </p:txBody>
      </p:sp>
      <p:sp>
        <p:nvSpPr>
          <p:cNvPr id="19" name="Text 17"/>
          <p:cNvSpPr/>
          <p:nvPr/>
        </p:nvSpPr>
        <p:spPr>
          <a:xfrm>
            <a:off x="4861471" y="2630612"/>
            <a:ext cx="1639119" cy="724793"/>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Modules indépendants pour chaque domaine métier (économie, promotions, badges, missions, leagues).</a:t>
            </a:r>
            <a:endParaRPr lang="en-US" sz="950" dirty="0"/>
          </a:p>
        </p:txBody>
      </p:sp>
      <p:sp>
        <p:nvSpPr>
          <p:cNvPr id="20" name="Shape 18"/>
          <p:cNvSpPr/>
          <p:nvPr/>
        </p:nvSpPr>
        <p:spPr>
          <a:xfrm>
            <a:off x="6741319" y="2009180"/>
            <a:ext cx="1911325" cy="1482328"/>
          </a:xfrm>
          <a:prstGeom prst="roundRect">
            <a:avLst>
              <a:gd name="adj" fmla="val 3452"/>
            </a:avLst>
          </a:prstGeom>
          <a:solidFill>
            <a:srgbClr val="FFFFFF"/>
          </a:solidFill>
          <a:ln w="14288">
            <a:solidFill>
              <a:srgbClr val="C0C1D7"/>
            </a:solidFill>
            <a:prstDash val="solid"/>
          </a:ln>
        </p:spPr>
      </p:sp>
      <p:sp>
        <p:nvSpPr>
          <p:cNvPr id="21" name="Text 19"/>
          <p:cNvSpPr/>
          <p:nvPr/>
        </p:nvSpPr>
        <p:spPr>
          <a:xfrm>
            <a:off x="6877422" y="2145283"/>
            <a:ext cx="1522884"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Gestion des Rôles</a:t>
            </a:r>
            <a:endParaRPr lang="en-US" sz="1150" dirty="0"/>
          </a:p>
        </p:txBody>
      </p:sp>
      <p:sp>
        <p:nvSpPr>
          <p:cNvPr id="22" name="Text 20"/>
          <p:cNvSpPr/>
          <p:nvPr/>
        </p:nvSpPr>
        <p:spPr>
          <a:xfrm>
            <a:off x="6877422" y="2440260"/>
            <a:ext cx="1639119"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Permissions granulaires par rôle, conformes aux recommandations ANSSI.</a:t>
            </a:r>
            <a:endParaRPr lang="en-US" sz="950" dirty="0"/>
          </a:p>
        </p:txBody>
      </p:sp>
      <p:sp>
        <p:nvSpPr>
          <p:cNvPr id="23" name="Shape 21"/>
          <p:cNvSpPr/>
          <p:nvPr/>
        </p:nvSpPr>
        <p:spPr>
          <a:xfrm>
            <a:off x="4725367" y="3596134"/>
            <a:ext cx="3927277" cy="929580"/>
          </a:xfrm>
          <a:prstGeom prst="roundRect">
            <a:avLst>
              <a:gd name="adj" fmla="val 5505"/>
            </a:avLst>
          </a:prstGeom>
          <a:solidFill>
            <a:srgbClr val="FFFFFF"/>
          </a:solidFill>
          <a:ln w="14288">
            <a:solidFill>
              <a:srgbClr val="C0C1D7"/>
            </a:solidFill>
            <a:prstDash val="solid"/>
          </a:ln>
        </p:spPr>
      </p:sp>
      <p:sp>
        <p:nvSpPr>
          <p:cNvPr id="24" name="Text 22"/>
          <p:cNvSpPr/>
          <p:nvPr/>
        </p:nvSpPr>
        <p:spPr>
          <a:xfrm>
            <a:off x="4861471" y="3732237"/>
            <a:ext cx="2105695"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Onboarding &amp; Récompenses</a:t>
            </a:r>
            <a:endParaRPr lang="en-US" sz="1150" dirty="0"/>
          </a:p>
        </p:txBody>
      </p:sp>
      <p:sp>
        <p:nvSpPr>
          <p:cNvPr id="25" name="Text 23"/>
          <p:cNvSpPr/>
          <p:nvPr/>
        </p:nvSpPr>
        <p:spPr>
          <a:xfrm>
            <a:off x="4861471" y="4027215"/>
            <a:ext cx="3655070"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Onboarding configurable en temps réel, gestion des missions et récompenses.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901526"/>
            <a:ext cx="3659386" cy="3022253"/>
          </a:xfrm>
          <a:prstGeom prst="rect">
            <a:avLst/>
          </a:prstGeom>
        </p:spPr>
      </p:pic>
      <p:sp>
        <p:nvSpPr>
          <p:cNvPr id="3" name="Text 0"/>
          <p:cNvSpPr/>
          <p:nvPr/>
        </p:nvSpPr>
        <p:spPr>
          <a:xfrm>
            <a:off x="496119" y="4063901"/>
            <a:ext cx="4371008" cy="205978"/>
          </a:xfrm>
          <a:prstGeom prst="rect">
            <a:avLst/>
          </a:prstGeom>
          <a:noFill/>
          <a:ln/>
        </p:spPr>
        <p:txBody>
          <a:bodyPr wrap="none" lIns="0" tIns="0" rIns="0" bIns="0" rtlCol="0" anchor="t"/>
          <a:lstStyle/>
          <a:p>
            <a:pPr algn="l" indent="0" marL="0">
              <a:lnSpc>
                <a:spcPct val="129000"/>
              </a:lnSpc>
              <a:buNone/>
            </a:pPr>
            <a:r>
              <a:rPr lang="en-US" sz="1000" b="1" dirty="0">
                <a:solidFill>
                  <a:srgbClr val="272525"/>
                </a:solidFill>
                <a:latin typeface="Inter Bold" pitchFamily="34" charset="0"/>
                <a:ea typeface="Inter Bold" pitchFamily="34" charset="-122"/>
                <a:cs typeface="Inter Bold" pitchFamily="34" charset="-120"/>
              </a:rPr>
              <a:t>MCD</a:t>
            </a:r>
            <a:pPr algn="l" indent="0" marL="0">
              <a:lnSpc>
                <a:spcPct val="129000"/>
              </a:lnSpc>
              <a:buNone/>
            </a:pPr>
            <a:r>
              <a:rPr lang="en-US" sz="1000" dirty="0">
                <a:solidFill>
                  <a:srgbClr val="272525"/>
                </a:solidFill>
                <a:latin typeface="Inter" pitchFamily="34" charset="0"/>
                <a:ea typeface="Inter" pitchFamily="34" charset="-122"/>
                <a:cs typeface="Inter" pitchFamily="34" charset="-120"/>
              </a:rPr>
              <a:t> </a:t>
            </a:r>
            <a:endParaRPr lang="en-US" sz="1000" dirty="0"/>
          </a:p>
        </p:txBody>
      </p:sp>
      <p:pic>
        <p:nvPicPr>
          <p:cNvPr id="4" name="Image 1" descr="preencoded.png">    </p:cNvPr>
          <p:cNvPicPr>
            <a:picLocks noChangeAspect="1"/>
          </p:cNvPicPr>
          <p:nvPr/>
        </p:nvPicPr>
        <p:blipFill>
          <a:blip r:embed="rId2"/>
          <a:stretch>
            <a:fillRect/>
          </a:stretch>
        </p:blipFill>
        <p:spPr>
          <a:xfrm>
            <a:off x="4738836" y="540544"/>
            <a:ext cx="3913808" cy="1568797"/>
          </a:xfrm>
          <a:prstGeom prst="rect">
            <a:avLst/>
          </a:prstGeom>
        </p:spPr>
      </p:pic>
      <p:sp>
        <p:nvSpPr>
          <p:cNvPr id="5" name="Text 1"/>
          <p:cNvSpPr/>
          <p:nvPr/>
        </p:nvSpPr>
        <p:spPr>
          <a:xfrm>
            <a:off x="4738836" y="2249463"/>
            <a:ext cx="4371008" cy="205978"/>
          </a:xfrm>
          <a:prstGeom prst="rect">
            <a:avLst/>
          </a:prstGeom>
          <a:noFill/>
          <a:ln/>
        </p:spPr>
        <p:txBody>
          <a:bodyPr wrap="none" lIns="0" tIns="0" rIns="0" bIns="0" rtlCol="0" anchor="t"/>
          <a:lstStyle/>
          <a:p>
            <a:pPr algn="l" indent="0" marL="0">
              <a:lnSpc>
                <a:spcPct val="129000"/>
              </a:lnSpc>
              <a:buNone/>
            </a:pPr>
            <a:r>
              <a:rPr lang="en-US" sz="1000" b="1" dirty="0">
                <a:solidFill>
                  <a:srgbClr val="272525"/>
                </a:solidFill>
                <a:latin typeface="Inter Bold" pitchFamily="34" charset="0"/>
                <a:ea typeface="Inter Bold" pitchFamily="34" charset="-122"/>
                <a:cs typeface="Inter Bold" pitchFamily="34" charset="-120"/>
              </a:rPr>
              <a:t>Panel admin - gestion des rôles</a:t>
            </a:r>
            <a:endParaRPr lang="en-US" sz="1000" dirty="0"/>
          </a:p>
        </p:txBody>
      </p:sp>
      <p:pic>
        <p:nvPicPr>
          <p:cNvPr id="6" name="Image 2" descr="preencoded.png">    </p:cNvPr>
          <p:cNvPicPr>
            <a:picLocks noChangeAspect="1"/>
          </p:cNvPicPr>
          <p:nvPr/>
        </p:nvPicPr>
        <p:blipFill>
          <a:blip r:embed="rId3"/>
          <a:stretch>
            <a:fillRect/>
          </a:stretch>
        </p:blipFill>
        <p:spPr>
          <a:xfrm>
            <a:off x="4738836" y="2595563"/>
            <a:ext cx="3913808" cy="1689274"/>
          </a:xfrm>
          <a:prstGeom prst="rect">
            <a:avLst/>
          </a:prstGeom>
        </p:spPr>
      </p:pic>
      <p:sp>
        <p:nvSpPr>
          <p:cNvPr id="7" name="Text 2"/>
          <p:cNvSpPr/>
          <p:nvPr/>
        </p:nvSpPr>
        <p:spPr>
          <a:xfrm>
            <a:off x="4738836" y="4424958"/>
            <a:ext cx="4371008" cy="205978"/>
          </a:xfrm>
          <a:prstGeom prst="rect">
            <a:avLst/>
          </a:prstGeom>
          <a:noFill/>
          <a:ln/>
        </p:spPr>
        <p:txBody>
          <a:bodyPr wrap="none" lIns="0" tIns="0" rIns="0" bIns="0" rtlCol="0" anchor="t"/>
          <a:lstStyle/>
          <a:p>
            <a:pPr algn="l" indent="0" marL="0">
              <a:lnSpc>
                <a:spcPct val="129000"/>
              </a:lnSpc>
              <a:buNone/>
            </a:pPr>
            <a:r>
              <a:rPr lang="en-US" sz="1000" b="1" dirty="0">
                <a:solidFill>
                  <a:srgbClr val="272525"/>
                </a:solidFill>
                <a:latin typeface="Inter Bold" pitchFamily="34" charset="0"/>
                <a:ea typeface="Inter Bold" pitchFamily="34" charset="-122"/>
                <a:cs typeface="Inter Bold" pitchFamily="34" charset="-120"/>
              </a:rPr>
              <a:t>Panel admin - configuration d'onboarding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401538"/>
            <a:ext cx="2450753" cy="249138"/>
          </a:xfrm>
          <a:prstGeom prst="rect">
            <a:avLst/>
          </a:prstGeom>
          <a:noFill/>
          <a:ln/>
        </p:spPr>
        <p:txBody>
          <a:bodyPr wrap="none" lIns="0" tIns="0" rIns="0" bIns="0" rtlCol="0" anchor="t"/>
          <a:lstStyle/>
          <a:p>
            <a:pPr algn="l" indent="0" marL="0">
              <a:lnSpc>
                <a:spcPct val="104000"/>
              </a:lnSpc>
              <a:buNone/>
            </a:pPr>
            <a:endParaRPr lang="en-US" sz="1550" dirty="0"/>
          </a:p>
        </p:txBody>
      </p:sp>
      <p:pic>
        <p:nvPicPr>
          <p:cNvPr id="3" name="Image 0" descr="preencoded.png">    </p:cNvPr>
          <p:cNvPicPr>
            <a:picLocks noChangeAspect="1"/>
          </p:cNvPicPr>
          <p:nvPr/>
        </p:nvPicPr>
        <p:blipFill>
          <a:blip r:embed="rId1"/>
          <a:stretch>
            <a:fillRect/>
          </a:stretch>
        </p:blipFill>
        <p:spPr>
          <a:xfrm>
            <a:off x="496119" y="768400"/>
            <a:ext cx="2058442" cy="1791146"/>
          </a:xfrm>
          <a:prstGeom prst="rect">
            <a:avLst/>
          </a:prstGeom>
        </p:spPr>
      </p:pic>
      <p:sp>
        <p:nvSpPr>
          <p:cNvPr id="4" name="Text 1"/>
          <p:cNvSpPr/>
          <p:nvPr/>
        </p:nvSpPr>
        <p:spPr>
          <a:xfrm>
            <a:off x="496119" y="2609999"/>
            <a:ext cx="4435822" cy="99715"/>
          </a:xfrm>
          <a:prstGeom prst="rect">
            <a:avLst/>
          </a:prstGeom>
          <a:noFill/>
          <a:ln/>
        </p:spPr>
        <p:txBody>
          <a:bodyPr wrap="none" lIns="0" tIns="0" rIns="0" bIns="0" rtlCol="0" anchor="t"/>
          <a:lstStyle/>
          <a:p>
            <a:pPr algn="l" indent="0" marL="0">
              <a:lnSpc>
                <a:spcPct val="104000"/>
              </a:lnSpc>
              <a:buNone/>
            </a:pPr>
            <a:r>
              <a:rPr lang="en-US" sz="600" b="1" dirty="0">
                <a:solidFill>
                  <a:srgbClr val="272525"/>
                </a:solidFill>
                <a:latin typeface="Inter Bold" pitchFamily="34" charset="0"/>
                <a:ea typeface="Inter Bold" pitchFamily="34" charset="-122"/>
                <a:cs typeface="Inter Bold" pitchFamily="34" charset="-120"/>
              </a:rPr>
              <a:t>Booster gratuit</a:t>
            </a:r>
            <a:endParaRPr lang="en-US" sz="600" dirty="0"/>
          </a:p>
        </p:txBody>
      </p:sp>
      <p:pic>
        <p:nvPicPr>
          <p:cNvPr id="5" name="Image 1" descr="preencoded.png">    </p:cNvPr>
          <p:cNvPicPr>
            <a:picLocks noChangeAspect="1"/>
          </p:cNvPicPr>
          <p:nvPr/>
        </p:nvPicPr>
        <p:blipFill>
          <a:blip r:embed="rId2"/>
          <a:stretch>
            <a:fillRect/>
          </a:stretch>
        </p:blipFill>
        <p:spPr>
          <a:xfrm>
            <a:off x="496119" y="2760166"/>
            <a:ext cx="2540719" cy="1791221"/>
          </a:xfrm>
          <a:prstGeom prst="rect">
            <a:avLst/>
          </a:prstGeom>
        </p:spPr>
      </p:pic>
      <p:sp>
        <p:nvSpPr>
          <p:cNvPr id="6" name="Text 2"/>
          <p:cNvSpPr/>
          <p:nvPr/>
        </p:nvSpPr>
        <p:spPr>
          <a:xfrm>
            <a:off x="496119" y="4601840"/>
            <a:ext cx="4435822" cy="99715"/>
          </a:xfrm>
          <a:prstGeom prst="rect">
            <a:avLst/>
          </a:prstGeom>
          <a:noFill/>
          <a:ln/>
        </p:spPr>
        <p:txBody>
          <a:bodyPr wrap="none" lIns="0" tIns="0" rIns="0" bIns="0" rtlCol="0" anchor="t"/>
          <a:lstStyle/>
          <a:p>
            <a:pPr algn="l" indent="0" marL="0">
              <a:lnSpc>
                <a:spcPct val="104000"/>
              </a:lnSpc>
              <a:buNone/>
            </a:pPr>
            <a:r>
              <a:rPr lang="en-US" sz="600" b="1" dirty="0">
                <a:solidFill>
                  <a:srgbClr val="272525"/>
                </a:solidFill>
                <a:latin typeface="Inter Bold" pitchFamily="34" charset="0"/>
                <a:ea typeface="Inter Bold" pitchFamily="34" charset="-122"/>
                <a:cs typeface="Inter Bold" pitchFamily="34" charset="-120"/>
              </a:rPr>
              <a:t>Gestion de stripe</a:t>
            </a:r>
            <a:endParaRPr lang="en-US" sz="600" dirty="0"/>
          </a:p>
        </p:txBody>
      </p:sp>
      <p:pic>
        <p:nvPicPr>
          <p:cNvPr id="7" name="Image 2" descr="preencoded.png">    </p:cNvPr>
          <p:cNvPicPr>
            <a:picLocks noChangeAspect="1"/>
          </p:cNvPicPr>
          <p:nvPr/>
        </p:nvPicPr>
        <p:blipFill>
          <a:blip r:embed="rId3"/>
          <a:stretch>
            <a:fillRect/>
          </a:stretch>
        </p:blipFill>
        <p:spPr>
          <a:xfrm>
            <a:off x="4674022" y="768400"/>
            <a:ext cx="2195587" cy="3024411"/>
          </a:xfrm>
          <a:prstGeom prst="rect">
            <a:avLst/>
          </a:prstGeom>
        </p:spPr>
      </p:pic>
      <p:sp>
        <p:nvSpPr>
          <p:cNvPr id="8" name="Text 3"/>
          <p:cNvSpPr/>
          <p:nvPr/>
        </p:nvSpPr>
        <p:spPr>
          <a:xfrm>
            <a:off x="4674022" y="3843263"/>
            <a:ext cx="4435822" cy="99715"/>
          </a:xfrm>
          <a:prstGeom prst="rect">
            <a:avLst/>
          </a:prstGeom>
          <a:noFill/>
          <a:ln/>
        </p:spPr>
        <p:txBody>
          <a:bodyPr wrap="none" lIns="0" tIns="0" rIns="0" bIns="0" rtlCol="0" anchor="t"/>
          <a:lstStyle/>
          <a:p>
            <a:pPr algn="l" indent="0" marL="0">
              <a:lnSpc>
                <a:spcPct val="104000"/>
              </a:lnSpc>
              <a:buNone/>
            </a:pPr>
            <a:r>
              <a:rPr lang="en-US" sz="600" b="1" dirty="0">
                <a:solidFill>
                  <a:srgbClr val="272525"/>
                </a:solidFill>
                <a:latin typeface="Inter Bold" pitchFamily="34" charset="0"/>
                <a:ea typeface="Inter Bold" pitchFamily="34" charset="-122"/>
                <a:cs typeface="Inter Bold" pitchFamily="34" charset="-120"/>
              </a:rPr>
              <a:t>Diagramme de cas user</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1133103"/>
            <a:ext cx="1395189" cy="266402"/>
          </a:xfrm>
          <a:prstGeom prst="roundRect">
            <a:avLst>
              <a:gd name="adj" fmla="val 17880"/>
            </a:avLst>
          </a:prstGeom>
          <a:solidFill>
            <a:srgbClr val="DADBF1"/>
          </a:solidFill>
          <a:ln/>
        </p:spPr>
      </p:sp>
      <p:sp>
        <p:nvSpPr>
          <p:cNvPr id="3" name="Text 1"/>
          <p:cNvSpPr/>
          <p:nvPr/>
        </p:nvSpPr>
        <p:spPr>
          <a:xfrm>
            <a:off x="581174" y="1175593"/>
            <a:ext cx="1682279" cy="181421"/>
          </a:xfrm>
          <a:prstGeom prst="rect">
            <a:avLst/>
          </a:prstGeom>
          <a:noFill/>
          <a:ln/>
        </p:spPr>
        <p:txBody>
          <a:bodyPr wrap="none" lIns="0" tIns="0" rIns="0" bIns="0" rtlCol="0" anchor="t"/>
          <a:lstStyle/>
          <a:p>
            <a:pPr algn="l" indent="0" marL="0">
              <a:lnSpc>
                <a:spcPct val="133000"/>
              </a:lnSpc>
              <a:buNone/>
            </a:pPr>
            <a:r>
              <a:rPr lang="en-US" sz="850" dirty="0">
                <a:solidFill>
                  <a:srgbClr val="272525"/>
                </a:solidFill>
                <a:latin typeface="Inter" pitchFamily="34" charset="0"/>
                <a:ea typeface="Inter" pitchFamily="34" charset="-122"/>
                <a:cs typeface="Inter" pitchFamily="34" charset="-120"/>
              </a:rPr>
              <a:t>08 - REMERCIEMENTS</a:t>
            </a:r>
            <a:endParaRPr lang="en-US" sz="850" dirty="0"/>
          </a:p>
        </p:txBody>
      </p:sp>
      <p:sp>
        <p:nvSpPr>
          <p:cNvPr id="4" name="Text 2"/>
          <p:cNvSpPr/>
          <p:nvPr/>
        </p:nvSpPr>
        <p:spPr>
          <a:xfrm>
            <a:off x="496119" y="1456209"/>
            <a:ext cx="5424190"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Merci à l'équipe Digital Icons</a:t>
            </a:r>
            <a:endParaRPr lang="en-US" sz="2750" dirty="0"/>
          </a:p>
        </p:txBody>
      </p:sp>
      <p:sp>
        <p:nvSpPr>
          <p:cNvPr id="5" name="Shape 3"/>
          <p:cNvSpPr/>
          <p:nvPr/>
        </p:nvSpPr>
        <p:spPr>
          <a:xfrm>
            <a:off x="496119" y="2111797"/>
            <a:ext cx="4004965" cy="1898526"/>
          </a:xfrm>
          <a:prstGeom prst="roundRect">
            <a:avLst>
              <a:gd name="adj" fmla="val 3136"/>
            </a:avLst>
          </a:prstGeom>
          <a:solidFill>
            <a:srgbClr val="FFFFFF"/>
          </a:solidFill>
          <a:ln w="19050">
            <a:solidFill>
              <a:srgbClr val="C0C1D7"/>
            </a:solidFill>
            <a:prstDash val="solid"/>
          </a:ln>
        </p:spPr>
      </p:sp>
      <p:pic>
        <p:nvPicPr>
          <p:cNvPr id="6" name="Image 0" descr="preencoded.png">    </p:cNvPr>
          <p:cNvPicPr>
            <a:picLocks noChangeAspect="1"/>
          </p:cNvPicPr>
          <p:nvPr/>
        </p:nvPicPr>
        <p:blipFill>
          <a:blip r:embed="rId1"/>
          <a:stretch>
            <a:fillRect/>
          </a:stretch>
        </p:blipFill>
        <p:spPr>
          <a:xfrm>
            <a:off x="430113" y="2045791"/>
            <a:ext cx="170111" cy="170111"/>
          </a:xfrm>
          <a:prstGeom prst="rect">
            <a:avLst/>
          </a:prstGeom>
        </p:spPr>
      </p:pic>
      <p:pic>
        <p:nvPicPr>
          <p:cNvPr id="7" name="Image 1" descr="preencoded.png">    </p:cNvPr>
          <p:cNvPicPr>
            <a:picLocks noChangeAspect="1"/>
          </p:cNvPicPr>
          <p:nvPr/>
        </p:nvPicPr>
        <p:blipFill>
          <a:blip r:embed="rId2"/>
          <a:stretch>
            <a:fillRect/>
          </a:stretch>
        </p:blipFill>
        <p:spPr>
          <a:xfrm>
            <a:off x="4396978" y="3906217"/>
            <a:ext cx="170111" cy="170111"/>
          </a:xfrm>
          <a:prstGeom prst="rect">
            <a:avLst/>
          </a:prstGeom>
        </p:spPr>
      </p:pic>
      <p:sp>
        <p:nvSpPr>
          <p:cNvPr id="8" name="Text 4"/>
          <p:cNvSpPr/>
          <p:nvPr/>
        </p:nvSpPr>
        <p:spPr>
          <a:xfrm>
            <a:off x="727770" y="2343448"/>
            <a:ext cx="34833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Paul WALLON — Président · Digital Icons</a:t>
            </a:r>
            <a:endParaRPr lang="en-US" sz="1350" dirty="0"/>
          </a:p>
        </p:txBody>
      </p:sp>
      <p:sp>
        <p:nvSpPr>
          <p:cNvPr id="9" name="Text 5"/>
          <p:cNvSpPr/>
          <p:nvPr/>
        </p:nvSpPr>
        <p:spPr>
          <a:xfrm>
            <a:off x="727770" y="2649959"/>
            <a:ext cx="35416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Merci pour votre confiance dès le premier jour, pour m'avoir confié des sujets réels et challengeants, et pour la bienveillance tout au long de ce stage.</a:t>
            </a:r>
            <a:endParaRPr lang="en-US" sz="1100" dirty="0"/>
          </a:p>
        </p:txBody>
      </p:sp>
      <p:sp>
        <p:nvSpPr>
          <p:cNvPr id="10" name="Shape 6"/>
          <p:cNvSpPr/>
          <p:nvPr/>
        </p:nvSpPr>
        <p:spPr>
          <a:xfrm>
            <a:off x="4642842" y="2111797"/>
            <a:ext cx="4005039" cy="1898526"/>
          </a:xfrm>
          <a:prstGeom prst="roundRect">
            <a:avLst>
              <a:gd name="adj" fmla="val 3136"/>
            </a:avLst>
          </a:prstGeom>
          <a:solidFill>
            <a:srgbClr val="FFFFFF"/>
          </a:solidFill>
          <a:ln w="19050">
            <a:solidFill>
              <a:srgbClr val="C0C1D7"/>
            </a:solidFill>
            <a:prstDash val="solid"/>
          </a:ln>
        </p:spPr>
      </p:sp>
      <p:pic>
        <p:nvPicPr>
          <p:cNvPr id="11" name="Image 2" descr="preencoded.png">    </p:cNvPr>
          <p:cNvPicPr>
            <a:picLocks noChangeAspect="1"/>
          </p:cNvPicPr>
          <p:nvPr/>
        </p:nvPicPr>
        <p:blipFill>
          <a:blip r:embed="rId3"/>
          <a:stretch>
            <a:fillRect/>
          </a:stretch>
        </p:blipFill>
        <p:spPr>
          <a:xfrm>
            <a:off x="4576837" y="2045791"/>
            <a:ext cx="170111" cy="170111"/>
          </a:xfrm>
          <a:prstGeom prst="rect">
            <a:avLst/>
          </a:prstGeom>
        </p:spPr>
      </p:pic>
      <p:pic>
        <p:nvPicPr>
          <p:cNvPr id="12" name="Image 3" descr="preencoded.png">    </p:cNvPr>
          <p:cNvPicPr>
            <a:picLocks noChangeAspect="1"/>
          </p:cNvPicPr>
          <p:nvPr/>
        </p:nvPicPr>
        <p:blipFill>
          <a:blip r:embed="rId4"/>
          <a:stretch>
            <a:fillRect/>
          </a:stretch>
        </p:blipFill>
        <p:spPr>
          <a:xfrm>
            <a:off x="8543776" y="3906217"/>
            <a:ext cx="170111" cy="170111"/>
          </a:xfrm>
          <a:prstGeom prst="rect">
            <a:avLst/>
          </a:prstGeom>
        </p:spPr>
      </p:pic>
      <p:sp>
        <p:nvSpPr>
          <p:cNvPr id="13" name="Text 7"/>
          <p:cNvSpPr/>
          <p:nvPr/>
        </p:nvSpPr>
        <p:spPr>
          <a:xfrm>
            <a:off x="4874493" y="2343448"/>
            <a:ext cx="3541737" cy="44291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Aymeric — Tuteur de stage · Digital Icons</a:t>
            </a:r>
            <a:endParaRPr lang="en-US" sz="1350" dirty="0"/>
          </a:p>
        </p:txBody>
      </p:sp>
      <p:sp>
        <p:nvSpPr>
          <p:cNvPr id="14" name="Text 8"/>
          <p:cNvSpPr/>
          <p:nvPr/>
        </p:nvSpPr>
        <p:spPr>
          <a:xfrm>
            <a:off x="4874493" y="2871415"/>
            <a:ext cx="3541737"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Merci pour votre accompagnement quotidien et vos conseils techniques. Vous m'avez permis de progresser rapidement tout en gardant le cap sur les priorités du projet.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96119" y="1208782"/>
            <a:ext cx="1164878" cy="266402"/>
          </a:xfrm>
          <a:prstGeom prst="roundRect">
            <a:avLst>
              <a:gd name="adj" fmla="val 17880"/>
            </a:avLst>
          </a:prstGeom>
          <a:solidFill>
            <a:srgbClr val="DADBF1"/>
          </a:solidFill>
          <a:ln/>
        </p:spPr>
      </p:sp>
      <p:sp>
        <p:nvSpPr>
          <p:cNvPr id="3" name="Text 1"/>
          <p:cNvSpPr/>
          <p:nvPr/>
        </p:nvSpPr>
        <p:spPr>
          <a:xfrm>
            <a:off x="581174" y="1251272"/>
            <a:ext cx="1451967" cy="181421"/>
          </a:xfrm>
          <a:prstGeom prst="rect">
            <a:avLst/>
          </a:prstGeom>
          <a:noFill/>
          <a:ln/>
        </p:spPr>
        <p:txBody>
          <a:bodyPr wrap="none" lIns="0" tIns="0" rIns="0" bIns="0" rtlCol="0" anchor="t"/>
          <a:lstStyle/>
          <a:p>
            <a:pPr algn="l" indent="0" marL="0">
              <a:lnSpc>
                <a:spcPct val="133000"/>
              </a:lnSpc>
              <a:buNone/>
            </a:pPr>
            <a:r>
              <a:rPr lang="en-US" sz="850" dirty="0">
                <a:solidFill>
                  <a:srgbClr val="272525"/>
                </a:solidFill>
                <a:latin typeface="Inter" pitchFamily="34" charset="0"/>
                <a:ea typeface="Inter" pitchFamily="34" charset="-122"/>
                <a:cs typeface="Inter" pitchFamily="34" charset="-120"/>
              </a:rPr>
              <a:t>10 - CONCLUSION</a:t>
            </a:r>
            <a:endParaRPr lang="en-US" sz="850" dirty="0"/>
          </a:p>
        </p:txBody>
      </p:sp>
      <p:sp>
        <p:nvSpPr>
          <p:cNvPr id="4" name="Text 2"/>
          <p:cNvSpPr/>
          <p:nvPr/>
        </p:nvSpPr>
        <p:spPr>
          <a:xfrm>
            <a:off x="496119" y="1531888"/>
            <a:ext cx="4001319"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Conclusion</a:t>
            </a:r>
            <a:endParaRPr lang="en-US" sz="2750" dirty="0"/>
          </a:p>
        </p:txBody>
      </p:sp>
      <p:sp>
        <p:nvSpPr>
          <p:cNvPr id="5" name="Text 3"/>
          <p:cNvSpPr/>
          <p:nvPr/>
        </p:nvSpPr>
        <p:spPr>
          <a:xfrm>
            <a:off x="496119" y="2187476"/>
            <a:ext cx="8151763" cy="174716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Ce stage de 5 mois chez Digital Icons a permis de mettre en œuvre l'ensemble des compétences du référentiel Bac+3 CDA, du développement d'interfaces sécurisées jusqu'à la mise en production réelle d'une application Web3 sur </a:t>
            </a:r>
            <a:pPr algn="l" indent="0" marL="0">
              <a:lnSpc>
                <a:spcPct val="133000"/>
              </a:lnSpc>
              <a:buNone/>
            </a:pPr>
            <a:r>
              <a:rPr lang="en-US" sz="1100" b="1" u="sng" dirty="0">
                <a:solidFill>
                  <a:srgbClr val="4950BC"/>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https://dev.digitalicons.fr/</a:t>
            </a:r>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Au-delà des compétences techniques acquises, ce stage a renforcé une posture professionnelle d'autonomie et de rigueur, indispensable dans l'environnement exigeant d'une startup. Il constitue une base solide pour la suite du parcours, qu'il s'agisse d'approfondir le développement backend, d'explorer les technologies blockchain, ou de poursuivre en Master Expert Système d'Information et Sécurité.</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950B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2026-06-26T13:01:05Z</dcterms:created>
  <dcterms:modified xsi:type="dcterms:W3CDTF">2026-06-26T13:01:05Z</dcterms:modified>
</cp:coreProperties>
</file>